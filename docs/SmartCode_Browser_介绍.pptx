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E1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64592"/>
          </a:xfrm>
          <a:prstGeom prst="rect">
            <a:avLst/>
          </a:prstGeom>
          <a:solidFill>
            <a:srgbClr val="4D9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64592"/>
            <a:ext cx="12192000" cy="54864"/>
          </a:xfrm>
          <a:prstGeom prst="rect">
            <a:avLst/>
          </a:prstGeom>
          <a:solidFill>
            <a:srgbClr val="32D6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645920"/>
            <a:ext cx="10241280" cy="2651760"/>
          </a:xfrm>
          <a:prstGeom prst="rect">
            <a:avLst/>
          </a:prstGeom>
          <a:noFill/>
        </p:spPr>
        <p:txBody>
          <a:bodyPr wrap="square" anchor="t" lIns="76200" rIns="762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5200" b="1" i="0">
                <a:solidFill>
                  <a:srgbClr val="ECF1F8"/>
                </a:solidFill>
                <a:latin typeface="Microsoft YaHei"/>
                <a:ea typeface="Microsoft YaHei"/>
                <a:cs typeface="Microsoft YaHei"/>
              </a:rPr>
              <a:t>SmartCode  Browser</a:t>
            </a:r>
          </a:p>
          <a:p>
            <a:pPr algn="l">
              <a:spcAft>
                <a:spcPts val="1800"/>
              </a:spcAft>
            </a:pPr>
            <a:r>
              <a:rPr sz="2900" b="1" i="0">
                <a:solidFill>
                  <a:srgbClr val="4D9CFF"/>
                </a:solidFill>
                <a:latin typeface="Microsoft YaHei"/>
                <a:ea typeface="Microsoft YaHei"/>
                <a:cs typeface="Microsoft YaHei"/>
              </a:rPr>
              <a:t>级联式代码浏览器</a:t>
            </a:r>
          </a:p>
          <a:p>
            <a:pPr algn="l">
              <a:spcAft>
                <a:spcPts val="400"/>
              </a:spcAft>
            </a:pPr>
            <a:r>
              <a:rPr sz="1900" b="0" i="0">
                <a:solidFill>
                  <a:srgbClr val="ECF1F8"/>
                </a:solidFill>
                <a:latin typeface="Microsoft YaHei"/>
                <a:ea typeface="Microsoft YaHei"/>
                <a:cs typeface="Microsoft YaHei"/>
              </a:rPr>
              <a:t>一个人 + AI，做出一个真能用在内核 / 芯片大库上的代码导航工具</a:t>
            </a:r>
          </a:p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93A1B5"/>
                </a:solidFill>
                <a:latin typeface="Microsoft YaHei"/>
                <a:ea typeface="Microsoft YaHei"/>
                <a:cs typeface="Microsoft YaHei"/>
              </a:rPr>
              <a:t>几乎没手写代码 —— 全程用 Cursor「聊」出来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4937760"/>
            <a:ext cx="9692640" cy="0"/>
          </a:xfrm>
          <a:prstGeom prst="rect">
            <a:avLst/>
          </a:prstGeom>
          <a:noFill/>
          <a:ln w="12700">
            <a:solidFill>
              <a:srgbClr val="2A3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5120640"/>
            <a:ext cx="10058400" cy="914400"/>
          </a:xfrm>
          <a:prstGeom prst="rect">
            <a:avLst/>
          </a:prstGeom>
          <a:noFill/>
        </p:spPr>
        <p:txBody>
          <a:bodyPr wrap="square" anchor="t" lIns="76200" rIns="76200" tIns="25400" bIns="2540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32D6C0"/>
                </a:solidFill>
                <a:latin typeface="Microsoft YaHei"/>
                <a:ea typeface="Microsoft YaHei"/>
                <a:cs typeface="Microsoft YaHei"/>
              </a:rPr>
              <a:t>为什么需要 </a:t>
            </a:r>
            <a:r>
              <a:rPr sz="1600" b="0" i="0">
                <a:solidFill>
                  <a:srgbClr val="93A1B5"/>
                </a:solidFill>
                <a:latin typeface="Microsoft YaHei"/>
                <a:ea typeface="Microsoft YaHei"/>
                <a:cs typeface="Microsoft YaHei"/>
              </a:rPr>
              <a:t>·  怎么用 AI 造的  ·  </a:t>
            </a:r>
            <a:r>
              <a:rPr sz="1600" b="1" i="0">
                <a:solidFill>
                  <a:srgbClr val="32D6C0"/>
                </a:solidFill>
                <a:latin typeface="Microsoft YaHei"/>
                <a:ea typeface="Microsoft YaHei"/>
                <a:cs typeface="Microsoft YaHei"/>
              </a:rPr>
              <a:t>要注意什么 </a:t>
            </a:r>
            <a:r>
              <a:rPr sz="1600" b="0" i="0">
                <a:solidFill>
                  <a:srgbClr val="93A1B5"/>
                </a:solidFill>
                <a:latin typeface="Microsoft YaHei"/>
                <a:ea typeface="Microsoft YaHei"/>
                <a:cs typeface="Microsoft YaHei"/>
              </a:rPr>
              <a:t>·  往哪走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E1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66928"/>
            <a:ext cx="91440" cy="502920"/>
          </a:xfrm>
          <a:prstGeom prst="rect">
            <a:avLst/>
          </a:prstGeom>
          <a:solidFill>
            <a:srgbClr val="4D9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457200"/>
            <a:ext cx="10607040" cy="1188720"/>
          </a:xfrm>
          <a:prstGeom prst="rect">
            <a:avLst/>
          </a:prstGeom>
          <a:noFill/>
        </p:spPr>
        <p:txBody>
          <a:bodyPr wrap="square" anchor="t" lIns="76200" rIns="762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 i="0">
                <a:solidFill>
                  <a:srgbClr val="4D9CFF"/>
                </a:solidFill>
                <a:latin typeface="Microsoft YaHei"/>
                <a:ea typeface="Microsoft YaHei"/>
                <a:cs typeface="Microsoft YaHei"/>
              </a:rPr>
              <a:t>今天的主线</a:t>
            </a:r>
          </a:p>
          <a:p>
            <a:pPr algn="l">
              <a:spcAft>
                <a:spcPts val="0"/>
              </a:spcAft>
            </a:pPr>
            <a:r>
              <a:rPr sz="2900" b="1" i="0">
                <a:solidFill>
                  <a:srgbClr val="ECF1F8"/>
                </a:solidFill>
                <a:latin typeface="Microsoft YaHei"/>
                <a:ea typeface="Microsoft YaHei"/>
                <a:cs typeface="Microsoft YaHei"/>
              </a:rPr>
              <a:t>一条线串起来：从缝隙到工具，再到 AI 怎么造的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2194560"/>
            <a:ext cx="1874519" cy="1554480"/>
          </a:xfrm>
          <a:prstGeom prst="roundRect">
            <a:avLst/>
          </a:prstGeom>
          <a:solidFill>
            <a:srgbClr val="172238"/>
          </a:solidFill>
          <a:ln w="19050">
            <a:solidFill>
              <a:srgbClr val="4D9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68680" y="2194560"/>
            <a:ext cx="1874519" cy="109728"/>
          </a:xfrm>
          <a:prstGeom prst="rect">
            <a:avLst/>
          </a:prstGeom>
          <a:solidFill>
            <a:srgbClr val="4D9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78408" y="2377440"/>
            <a:ext cx="1655063" cy="1234440"/>
          </a:xfrm>
          <a:prstGeom prst="rect">
            <a:avLst/>
          </a:prstGeom>
          <a:noFill/>
        </p:spPr>
        <p:txBody>
          <a:bodyPr wrap="square" anchor="ctr" lIns="76200" rIns="762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 i="0">
                <a:solidFill>
                  <a:srgbClr val="4D9C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  <a:p>
            <a:pPr algn="ctr">
              <a:spcAft>
                <a:spcPts val="600"/>
              </a:spcAft>
            </a:pPr>
            <a:r>
              <a:rPr sz="2000" b="1" i="0">
                <a:solidFill>
                  <a:srgbClr val="ECF1F8"/>
                </a:solidFill>
                <a:latin typeface="Microsoft YaHei"/>
                <a:ea typeface="Microsoft YaHei"/>
                <a:cs typeface="Microsoft YaHei"/>
              </a:rPr>
              <a:t>缝隙</a:t>
            </a:r>
          </a:p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200" b="0" i="0">
                <a:solidFill>
                  <a:srgbClr val="93A1B5"/>
                </a:solidFill>
                <a:latin typeface="Microsoft YaHei"/>
                <a:ea typeface="Microsoft YaHei"/>
                <a:cs typeface="Microsoft YaHei"/>
              </a:rPr>
              <a:t>现有工具追一条链都别扭</a:t>
            </a:r>
          </a:p>
        </p:txBody>
      </p:sp>
      <p:sp>
        <p:nvSpPr>
          <p:cNvPr id="8" name="Chevron 7"/>
          <p:cNvSpPr/>
          <p:nvPr/>
        </p:nvSpPr>
        <p:spPr>
          <a:xfrm>
            <a:off x="2724911" y="2807208"/>
            <a:ext cx="310896" cy="329184"/>
          </a:xfrm>
          <a:prstGeom prst="chevron">
            <a:avLst/>
          </a:prstGeom>
          <a:solidFill>
            <a:srgbClr val="93A1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999231" y="2194560"/>
            <a:ext cx="1874519" cy="1554480"/>
          </a:xfrm>
          <a:prstGeom prst="roundRect">
            <a:avLst/>
          </a:prstGeom>
          <a:solidFill>
            <a:srgbClr val="172238"/>
          </a:solidFill>
          <a:ln w="19050">
            <a:solidFill>
              <a:srgbClr val="4D9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999231" y="2194560"/>
            <a:ext cx="1874519" cy="109728"/>
          </a:xfrm>
          <a:prstGeom prst="rect">
            <a:avLst/>
          </a:prstGeom>
          <a:solidFill>
            <a:srgbClr val="4D9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108959" y="2377440"/>
            <a:ext cx="1655063" cy="1234440"/>
          </a:xfrm>
          <a:prstGeom prst="rect">
            <a:avLst/>
          </a:prstGeom>
          <a:noFill/>
        </p:spPr>
        <p:txBody>
          <a:bodyPr wrap="square" anchor="ctr" lIns="76200" rIns="762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 i="0">
                <a:solidFill>
                  <a:srgbClr val="4D9C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  <a:p>
            <a:pPr algn="ctr">
              <a:spcAft>
                <a:spcPts val="600"/>
              </a:spcAft>
            </a:pPr>
            <a:r>
              <a:rPr sz="2000" b="1" i="0">
                <a:solidFill>
                  <a:srgbClr val="ECF1F8"/>
                </a:solidFill>
                <a:latin typeface="Microsoft YaHei"/>
                <a:ea typeface="Microsoft YaHei"/>
                <a:cs typeface="Microsoft YaHei"/>
              </a:rPr>
              <a:t>级联</a:t>
            </a:r>
          </a:p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200" b="0" i="0">
                <a:solidFill>
                  <a:srgbClr val="93A1B5"/>
                </a:solidFill>
                <a:latin typeface="Microsoft YaHei"/>
                <a:ea typeface="Microsoft YaHei"/>
                <a:cs typeface="Microsoft YaHei"/>
              </a:rPr>
              <a:t>用新交互填上，现场演示</a:t>
            </a:r>
          </a:p>
        </p:txBody>
      </p:sp>
      <p:sp>
        <p:nvSpPr>
          <p:cNvPr id="12" name="Chevron 11"/>
          <p:cNvSpPr/>
          <p:nvPr/>
        </p:nvSpPr>
        <p:spPr>
          <a:xfrm>
            <a:off x="4855462" y="2807208"/>
            <a:ext cx="310896" cy="329184"/>
          </a:xfrm>
          <a:prstGeom prst="chevron">
            <a:avLst/>
          </a:prstGeom>
          <a:solidFill>
            <a:srgbClr val="93A1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129782" y="2194560"/>
            <a:ext cx="1874519" cy="1554480"/>
          </a:xfrm>
          <a:prstGeom prst="roundRect">
            <a:avLst/>
          </a:prstGeom>
          <a:solidFill>
            <a:srgbClr val="172238"/>
          </a:solidFill>
          <a:ln w="19050">
            <a:solidFill>
              <a:srgbClr val="FFB1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129782" y="2194560"/>
            <a:ext cx="1874519" cy="109728"/>
          </a:xfrm>
          <a:prstGeom prst="rect">
            <a:avLst/>
          </a:prstGeom>
          <a:solidFill>
            <a:srgbClr val="FFB1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39510" y="2377440"/>
            <a:ext cx="1655063" cy="1234440"/>
          </a:xfrm>
          <a:prstGeom prst="rect">
            <a:avLst/>
          </a:prstGeom>
          <a:noFill/>
        </p:spPr>
        <p:txBody>
          <a:bodyPr wrap="square" anchor="ctr" lIns="76200" rIns="762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 i="0">
                <a:solidFill>
                  <a:srgbClr val="FFB14D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  <a:p>
            <a:pPr algn="ctr">
              <a:spcAft>
                <a:spcPts val="600"/>
              </a:spcAft>
            </a:pPr>
            <a:r>
              <a:rPr sz="2000" b="1" i="0">
                <a:solidFill>
                  <a:srgbClr val="ECF1F8"/>
                </a:solidFill>
                <a:latin typeface="Microsoft YaHei"/>
                <a:ea typeface="Microsoft YaHei"/>
                <a:cs typeface="Microsoft YaHei"/>
              </a:rPr>
              <a:t>AI 造的</a:t>
            </a:r>
          </a:p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200" b="0" i="0">
                <a:solidFill>
                  <a:srgbClr val="93A1B5"/>
                </a:solidFill>
                <a:latin typeface="Microsoft YaHei"/>
                <a:ea typeface="Microsoft YaHei"/>
                <a:cs typeface="Microsoft YaHei"/>
              </a:rPr>
              <a:t>全程和 Cursor 聊出来</a:t>
            </a:r>
          </a:p>
        </p:txBody>
      </p:sp>
      <p:sp>
        <p:nvSpPr>
          <p:cNvPr id="16" name="Chevron 15"/>
          <p:cNvSpPr/>
          <p:nvPr/>
        </p:nvSpPr>
        <p:spPr>
          <a:xfrm>
            <a:off x="6986013" y="2807208"/>
            <a:ext cx="310896" cy="329184"/>
          </a:xfrm>
          <a:prstGeom prst="chevron">
            <a:avLst/>
          </a:prstGeom>
          <a:solidFill>
            <a:srgbClr val="93A1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260333" y="2194560"/>
            <a:ext cx="1874519" cy="1554480"/>
          </a:xfrm>
          <a:prstGeom prst="roundRect">
            <a:avLst/>
          </a:prstGeom>
          <a:solidFill>
            <a:srgbClr val="172238"/>
          </a:solidFill>
          <a:ln w="19050">
            <a:solidFill>
              <a:srgbClr val="FFB1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260333" y="2194560"/>
            <a:ext cx="1874519" cy="109728"/>
          </a:xfrm>
          <a:prstGeom prst="rect">
            <a:avLst/>
          </a:prstGeom>
          <a:solidFill>
            <a:srgbClr val="FFB1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70061" y="2377440"/>
            <a:ext cx="1655063" cy="1234440"/>
          </a:xfrm>
          <a:prstGeom prst="rect">
            <a:avLst/>
          </a:prstGeom>
          <a:noFill/>
        </p:spPr>
        <p:txBody>
          <a:bodyPr wrap="square" anchor="ctr" lIns="76200" rIns="762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 i="0">
                <a:solidFill>
                  <a:srgbClr val="FFB14D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  <a:p>
            <a:pPr algn="ctr">
              <a:spcAft>
                <a:spcPts val="600"/>
              </a:spcAft>
            </a:pPr>
            <a:r>
              <a:rPr sz="2000" b="1" i="0">
                <a:solidFill>
                  <a:srgbClr val="ECF1F8"/>
                </a:solidFill>
                <a:latin typeface="Microsoft YaHei"/>
                <a:ea typeface="Microsoft YaHei"/>
                <a:cs typeface="Microsoft YaHei"/>
              </a:rPr>
              <a:t>踩过的坑</a:t>
            </a:r>
          </a:p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200" b="0" i="0">
                <a:solidFill>
                  <a:srgbClr val="93A1B5"/>
                </a:solidFill>
                <a:latin typeface="Microsoft YaHei"/>
                <a:ea typeface="Microsoft YaHei"/>
                <a:cs typeface="Microsoft YaHei"/>
              </a:rPr>
              <a:t>用 AI 开发要注意什么</a:t>
            </a:r>
          </a:p>
        </p:txBody>
      </p:sp>
      <p:sp>
        <p:nvSpPr>
          <p:cNvPr id="20" name="Chevron 19"/>
          <p:cNvSpPr/>
          <p:nvPr/>
        </p:nvSpPr>
        <p:spPr>
          <a:xfrm>
            <a:off x="9116564" y="2807208"/>
            <a:ext cx="310896" cy="329184"/>
          </a:xfrm>
          <a:prstGeom prst="chevron">
            <a:avLst/>
          </a:prstGeom>
          <a:solidFill>
            <a:srgbClr val="93A1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390884" y="2194560"/>
            <a:ext cx="1874519" cy="1554480"/>
          </a:xfrm>
          <a:prstGeom prst="roundRect">
            <a:avLst/>
          </a:prstGeom>
          <a:solidFill>
            <a:srgbClr val="172238"/>
          </a:solidFill>
          <a:ln w="19050">
            <a:solidFill>
              <a:srgbClr val="32D6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390884" y="2194560"/>
            <a:ext cx="1874519" cy="109728"/>
          </a:xfrm>
          <a:prstGeom prst="rect">
            <a:avLst/>
          </a:prstGeom>
          <a:solidFill>
            <a:srgbClr val="32D6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500612" y="2377440"/>
            <a:ext cx="1655063" cy="1234440"/>
          </a:xfrm>
          <a:prstGeom prst="rect">
            <a:avLst/>
          </a:prstGeom>
          <a:noFill/>
        </p:spPr>
        <p:txBody>
          <a:bodyPr wrap="square" anchor="ctr" lIns="76200" rIns="762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 i="0">
                <a:solidFill>
                  <a:srgbClr val="32D6C0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  <a:p>
            <a:pPr algn="ctr">
              <a:spcAft>
                <a:spcPts val="600"/>
              </a:spcAft>
            </a:pPr>
            <a:r>
              <a:rPr sz="2000" b="1" i="0">
                <a:solidFill>
                  <a:srgbClr val="ECF1F8"/>
                </a:solidFill>
                <a:latin typeface="Microsoft YaHei"/>
                <a:ea typeface="Microsoft YaHei"/>
                <a:cs typeface="Microsoft YaHei"/>
              </a:rPr>
              <a:t>往哪走</a:t>
            </a:r>
          </a:p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200" b="0" i="0">
                <a:solidFill>
                  <a:srgbClr val="93A1B5"/>
                </a:solidFill>
                <a:latin typeface="Microsoft YaHei"/>
                <a:ea typeface="Microsoft YaHei"/>
                <a:cs typeface="Microsoft YaHei"/>
              </a:rPr>
              <a:t>路线图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4206240"/>
            <a:ext cx="10332720" cy="914400"/>
          </a:xfrm>
          <a:prstGeom prst="rect">
            <a:avLst/>
          </a:prstGeom>
          <a:noFill/>
        </p:spPr>
        <p:txBody>
          <a:bodyPr wrap="square" anchor="t" lIns="76200" rIns="76200" tIns="25400" bIns="2540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FFB14D"/>
                </a:solidFill>
                <a:latin typeface="Microsoft YaHei"/>
                <a:ea typeface="Microsoft YaHei"/>
                <a:cs typeface="Microsoft YaHei"/>
              </a:rPr>
              <a:t>重点在第 3 段：</a:t>
            </a:r>
            <a:r>
              <a:rPr sz="1600" b="0" i="0">
                <a:solidFill>
                  <a:srgbClr val="ECF1F8"/>
                </a:solidFill>
                <a:latin typeface="Microsoft YaHei"/>
                <a:ea typeface="Microsoft YaHei"/>
                <a:cs typeface="Microsoft YaHei"/>
              </a:rPr>
              <a:t>这工具本身只是个例子，更想分享的是 —— 现在你也能这样用 AI 造出真能用的内部工具。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6355080"/>
            <a:ext cx="10058400" cy="320040"/>
          </a:xfrm>
          <a:prstGeom prst="rect">
            <a:avLst/>
          </a:prstGeom>
          <a:noFill/>
        </p:spPr>
        <p:txBody>
          <a:bodyPr wrap="square" anchor="t" lIns="76200" rIns="76200" tIns="25400" bIns="2540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93A1B5"/>
                </a:solidFill>
                <a:latin typeface="Microsoft YaHei"/>
                <a:ea typeface="Microsoft YaHei"/>
                <a:cs typeface="Microsoft YaHei"/>
              </a:rPr>
              <a:t>SmartCode Browser</a:t>
            </a:r>
            <a:r>
              <a:rPr sz="1000" b="0" i="0">
                <a:solidFill>
                  <a:srgbClr val="93A1B5"/>
                </a:solidFill>
                <a:latin typeface="Microsoft YaHei"/>
                <a:ea typeface="Microsoft YaHei"/>
                <a:cs typeface="Microsoft YaHei"/>
              </a:rPr>
              <a:t>   ·   一个用 Cursor「聊」出来的代码导航工具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41280" y="6355080"/>
            <a:ext cx="1188720" cy="320040"/>
          </a:xfrm>
          <a:prstGeom prst="rect">
            <a:avLst/>
          </a:prstGeom>
          <a:noFill/>
        </p:spPr>
        <p:txBody>
          <a:bodyPr wrap="square" anchor="t" lIns="76200" rIns="76200" tIns="25400" bIns="2540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93A1B5"/>
                </a:solidFill>
                <a:latin typeface="Microsoft YaHei"/>
                <a:ea typeface="Microsoft YaHei"/>
                <a:cs typeface="Microsoft YaHei"/>
              </a:rPr>
              <a:t>02 / 16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E1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66928"/>
            <a:ext cx="91440" cy="502920"/>
          </a:xfrm>
          <a:prstGeom prst="rect">
            <a:avLst/>
          </a:prstGeom>
          <a:solidFill>
            <a:srgbClr val="4D9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457200"/>
            <a:ext cx="10607040" cy="1188720"/>
          </a:xfrm>
          <a:prstGeom prst="rect">
            <a:avLst/>
          </a:prstGeom>
          <a:noFill/>
        </p:spPr>
        <p:txBody>
          <a:bodyPr wrap="square" anchor="t" lIns="76200" rIns="762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 i="0">
                <a:solidFill>
                  <a:srgbClr val="4D9CFF"/>
                </a:solidFill>
                <a:latin typeface="Microsoft YaHei"/>
                <a:ea typeface="Microsoft YaHei"/>
                <a:cs typeface="Microsoft YaHei"/>
              </a:rPr>
              <a:t>为什么需要它</a:t>
            </a:r>
          </a:p>
          <a:p>
            <a:pPr algn="l">
              <a:spcAft>
                <a:spcPts val="0"/>
              </a:spcAft>
            </a:pPr>
            <a:r>
              <a:rPr sz="2900" b="1" i="0">
                <a:solidFill>
                  <a:srgbClr val="ECF1F8"/>
                </a:solidFill>
                <a:latin typeface="Microsoft YaHei"/>
                <a:ea typeface="Microsoft YaHei"/>
                <a:cs typeface="Microsoft YaHei"/>
              </a:rPr>
              <a:t>「调查一条调用链」是被现有工具组织得最烂的任务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1554480"/>
            <a:ext cx="2194560" cy="548640"/>
          </a:xfrm>
          <a:prstGeom prst="roundRect">
            <a:avLst/>
          </a:prstGeom>
          <a:solidFill>
            <a:srgbClr val="1F2D47"/>
          </a:solidFill>
          <a:ln w="19050">
            <a:solidFill>
              <a:srgbClr val="0E16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/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4D9CFF"/>
                </a:solidFill>
                <a:latin typeface="Microsoft YaHei"/>
                <a:ea typeface="Microsoft YaHei"/>
                <a:cs typeface="Microsoft YaHei"/>
              </a:rPr>
              <a:t>现有方式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063240" y="1554480"/>
            <a:ext cx="2560320" cy="548640"/>
          </a:xfrm>
          <a:prstGeom prst="roundRect">
            <a:avLst/>
          </a:prstGeom>
          <a:solidFill>
            <a:srgbClr val="1F2D47"/>
          </a:solidFill>
          <a:ln w="19050">
            <a:solidFill>
              <a:srgbClr val="0E16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/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ECF1F8"/>
                </a:solidFill>
                <a:latin typeface="Microsoft YaHei"/>
                <a:ea typeface="Microsoft YaHei"/>
                <a:cs typeface="Microsoft YaHei"/>
              </a:rPr>
              <a:t>能干嘛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23560" y="1554480"/>
            <a:ext cx="4937760" cy="548640"/>
          </a:xfrm>
          <a:prstGeom prst="roundRect">
            <a:avLst/>
          </a:prstGeom>
          <a:solidFill>
            <a:srgbClr val="1F2D47"/>
          </a:solidFill>
          <a:ln w="19050">
            <a:solidFill>
              <a:srgbClr val="0E16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/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ECF1F8"/>
                </a:solidFill>
                <a:latin typeface="Microsoft YaHei"/>
                <a:ea typeface="Microsoft YaHei"/>
                <a:cs typeface="Microsoft YaHei"/>
              </a:rPr>
              <a:t>追一条链时的别扭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2103120"/>
            <a:ext cx="2194560" cy="713232"/>
          </a:xfrm>
          <a:prstGeom prst="roundRect">
            <a:avLst/>
          </a:prstGeom>
          <a:solidFill>
            <a:srgbClr val="172238"/>
          </a:solidFill>
          <a:ln w="19050">
            <a:solidFill>
              <a:srgbClr val="0E16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01600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ECF1F8"/>
                </a:solidFill>
                <a:latin typeface="Microsoft YaHei"/>
                <a:ea typeface="Microsoft YaHei"/>
                <a:cs typeface="Microsoft YaHei"/>
              </a:rPr>
              <a:t>IDE 跳转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063240" y="2103120"/>
            <a:ext cx="2560320" cy="713232"/>
          </a:xfrm>
          <a:prstGeom prst="roundRect">
            <a:avLst/>
          </a:prstGeom>
          <a:solidFill>
            <a:srgbClr val="172238"/>
          </a:solidFill>
          <a:ln w="19050">
            <a:solidFill>
              <a:srgbClr val="0E16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01600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 i="0">
                <a:solidFill>
                  <a:srgbClr val="93A1B5"/>
                </a:solidFill>
                <a:latin typeface="Microsoft YaHei"/>
                <a:ea typeface="Microsoft YaHei"/>
                <a:cs typeface="Microsoft YaHei"/>
              </a:rPr>
              <a:t>准、能改代码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23560" y="2103120"/>
            <a:ext cx="4937760" cy="713232"/>
          </a:xfrm>
          <a:prstGeom prst="roundRect">
            <a:avLst/>
          </a:prstGeom>
          <a:solidFill>
            <a:srgbClr val="172238"/>
          </a:solidFill>
          <a:ln w="19050">
            <a:solidFill>
              <a:srgbClr val="0E16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01600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 i="0">
                <a:solidFill>
                  <a:srgbClr val="93A1B5"/>
                </a:solidFill>
                <a:latin typeface="Microsoft YaHei"/>
                <a:ea typeface="Microsoft YaHei"/>
                <a:cs typeface="Microsoft YaHei"/>
              </a:rPr>
              <a:t>标签越开越多，路径全在脑子里，难复述给别人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2816352"/>
            <a:ext cx="2194560" cy="713232"/>
          </a:xfrm>
          <a:prstGeom prst="roundRect">
            <a:avLst/>
          </a:prstGeom>
          <a:solidFill>
            <a:srgbClr val="1F2D47"/>
          </a:solidFill>
          <a:ln w="19050">
            <a:solidFill>
              <a:srgbClr val="0E16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01600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ECF1F8"/>
                </a:solidFill>
                <a:latin typeface="Microsoft YaHei"/>
                <a:ea typeface="Microsoft YaHei"/>
                <a:cs typeface="Microsoft YaHei"/>
              </a:rPr>
              <a:t>grep / 全文搜索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063240" y="2816352"/>
            <a:ext cx="2560320" cy="713232"/>
          </a:xfrm>
          <a:prstGeom prst="roundRect">
            <a:avLst/>
          </a:prstGeom>
          <a:solidFill>
            <a:srgbClr val="1F2D47"/>
          </a:solidFill>
          <a:ln w="19050">
            <a:solidFill>
              <a:srgbClr val="0E16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01600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 i="0">
                <a:solidFill>
                  <a:srgbClr val="93A1B5"/>
                </a:solidFill>
                <a:latin typeface="Microsoft YaHei"/>
                <a:ea typeface="Microsoft YaHei"/>
                <a:cs typeface="Microsoft YaHei"/>
              </a:rPr>
              <a:t>快、无需索引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23560" y="2816352"/>
            <a:ext cx="4937760" cy="713232"/>
          </a:xfrm>
          <a:prstGeom prst="roundRect">
            <a:avLst/>
          </a:prstGeom>
          <a:solidFill>
            <a:srgbClr val="1F2D47"/>
          </a:solidFill>
          <a:ln w="19050">
            <a:solidFill>
              <a:srgbClr val="0E16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01600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 i="0">
                <a:solidFill>
                  <a:srgbClr val="93A1B5"/>
                </a:solidFill>
                <a:latin typeface="Microsoft YaHei"/>
                <a:ea typeface="Microsoft YaHei"/>
                <a:cs typeface="Microsoft YaHei"/>
              </a:rPr>
              <a:t>只给「出现位置」，没有调用层次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8680" y="3529584"/>
            <a:ext cx="2194560" cy="713232"/>
          </a:xfrm>
          <a:prstGeom prst="roundRect">
            <a:avLst/>
          </a:prstGeom>
          <a:solidFill>
            <a:srgbClr val="172238"/>
          </a:solidFill>
          <a:ln w="19050">
            <a:solidFill>
              <a:srgbClr val="0E16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01600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ECF1F8"/>
                </a:solidFill>
                <a:latin typeface="Microsoft YaHei"/>
                <a:ea typeface="Microsoft YaHei"/>
                <a:cs typeface="Microsoft YaHei"/>
              </a:rPr>
              <a:t>直接问 AI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063240" y="3529584"/>
            <a:ext cx="2560320" cy="713232"/>
          </a:xfrm>
          <a:prstGeom prst="roundRect">
            <a:avLst/>
          </a:prstGeom>
          <a:solidFill>
            <a:srgbClr val="172238"/>
          </a:solidFill>
          <a:ln w="19050">
            <a:solidFill>
              <a:srgbClr val="0E16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01600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 i="0">
                <a:solidFill>
                  <a:srgbClr val="93A1B5"/>
                </a:solidFill>
                <a:latin typeface="Microsoft YaHei"/>
                <a:ea typeface="Microsoft YaHei"/>
                <a:cs typeface="Microsoft YaHei"/>
              </a:rPr>
              <a:t>出解释快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23560" y="3529584"/>
            <a:ext cx="4937760" cy="713232"/>
          </a:xfrm>
          <a:prstGeom prst="roundRect">
            <a:avLst/>
          </a:prstGeom>
          <a:solidFill>
            <a:srgbClr val="172238"/>
          </a:solidFill>
          <a:ln w="19050">
            <a:solidFill>
              <a:srgbClr val="0E16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01600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 i="0">
                <a:solidFill>
                  <a:srgbClr val="93A1B5"/>
                </a:solidFill>
                <a:latin typeface="Microsoft YaHei"/>
                <a:ea typeface="Microsoft YaHei"/>
                <a:cs typeface="Microsoft YaHei"/>
              </a:rPr>
              <a:t>行号 / 路径不稳定，难逐行核对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8680" y="4434840"/>
            <a:ext cx="9692640" cy="1371600"/>
          </a:xfrm>
          <a:prstGeom prst="roundRect">
            <a:avLst/>
          </a:prstGeom>
          <a:solidFill>
            <a:srgbClr val="172238"/>
          </a:solidFill>
          <a:ln w="19050">
            <a:solidFill>
              <a:srgbClr val="4D9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88720" y="4572000"/>
            <a:ext cx="9144000" cy="1097280"/>
          </a:xfrm>
          <a:prstGeom prst="rect">
            <a:avLst/>
          </a:prstGeom>
          <a:noFill/>
        </p:spPr>
        <p:txBody>
          <a:bodyPr wrap="square" anchor="ctr" lIns="76200" rIns="762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ECF1F8"/>
                </a:solidFill>
                <a:latin typeface="Microsoft YaHei"/>
                <a:ea typeface="Microsoft YaHei"/>
                <a:cs typeface="Microsoft YaHei"/>
              </a:rPr>
              <a:t>缝隙：不是工具不好，而是「沿调用链调查」这件事，信息组织方式不对。</a:t>
            </a:r>
          </a:p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4D9CFF"/>
                </a:solidFill>
                <a:latin typeface="Microsoft YaHei"/>
                <a:ea typeface="Microsoft YaHei"/>
                <a:cs typeface="Microsoft YaHei"/>
              </a:rPr>
              <a:t>我们想要的：</a:t>
            </a:r>
            <a:r>
              <a:rPr sz="1500" b="0" i="0">
                <a:solidFill>
                  <a:srgbClr val="93A1B5"/>
                </a:solidFill>
                <a:latin typeface="Microsoft YaHei"/>
                <a:ea typeface="Microsoft YaHei"/>
                <a:cs typeface="Microsoft YaHei"/>
              </a:rPr>
              <a:t>从入口出发，顺着「谁调谁」一层层展开，路径可见、可续、可分享 —— 像在树上散步。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6355080"/>
            <a:ext cx="10058400" cy="320040"/>
          </a:xfrm>
          <a:prstGeom prst="rect">
            <a:avLst/>
          </a:prstGeom>
          <a:noFill/>
        </p:spPr>
        <p:txBody>
          <a:bodyPr wrap="square" anchor="t" lIns="76200" rIns="76200" tIns="25400" bIns="2540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93A1B5"/>
                </a:solidFill>
                <a:latin typeface="Microsoft YaHei"/>
                <a:ea typeface="Microsoft YaHei"/>
                <a:cs typeface="Microsoft YaHei"/>
              </a:rPr>
              <a:t>SmartCode Browser</a:t>
            </a:r>
            <a:r>
              <a:rPr sz="1000" b="0" i="0">
                <a:solidFill>
                  <a:srgbClr val="93A1B5"/>
                </a:solidFill>
                <a:latin typeface="Microsoft YaHei"/>
                <a:ea typeface="Microsoft YaHei"/>
                <a:cs typeface="Microsoft YaHei"/>
              </a:rPr>
              <a:t>   ·   一个用 Cursor「聊」出来的代码导航工具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241280" y="6355080"/>
            <a:ext cx="1188720" cy="320040"/>
          </a:xfrm>
          <a:prstGeom prst="rect">
            <a:avLst/>
          </a:prstGeom>
          <a:noFill/>
        </p:spPr>
        <p:txBody>
          <a:bodyPr wrap="square" anchor="t" lIns="76200" rIns="76200" tIns="25400" bIns="2540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93A1B5"/>
                </a:solidFill>
                <a:latin typeface="Microsoft YaHei"/>
                <a:ea typeface="Microsoft YaHei"/>
                <a:cs typeface="Microsoft YaHei"/>
              </a:rPr>
              <a:t>03 / 16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E1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66928"/>
            <a:ext cx="91440" cy="502920"/>
          </a:xfrm>
          <a:prstGeom prst="rect">
            <a:avLst/>
          </a:prstGeom>
          <a:solidFill>
            <a:srgbClr val="4D9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457200"/>
            <a:ext cx="10607040" cy="1188720"/>
          </a:xfrm>
          <a:prstGeom prst="rect">
            <a:avLst/>
          </a:prstGeom>
          <a:noFill/>
        </p:spPr>
        <p:txBody>
          <a:bodyPr wrap="square" anchor="t" lIns="76200" rIns="762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 i="0">
                <a:solidFill>
                  <a:srgbClr val="4D9CFF"/>
                </a:solidFill>
                <a:latin typeface="Microsoft YaHei"/>
                <a:ea typeface="Microsoft YaHei"/>
                <a:cs typeface="Microsoft YaHei"/>
              </a:rPr>
              <a:t>怎么填这个缝隙</a:t>
            </a:r>
          </a:p>
          <a:p>
            <a:pPr algn="l">
              <a:spcAft>
                <a:spcPts val="0"/>
              </a:spcAft>
            </a:pPr>
            <a:r>
              <a:rPr sz="2900" b="1" i="0">
                <a:solidFill>
                  <a:srgbClr val="ECF1F8"/>
                </a:solidFill>
                <a:latin typeface="Microsoft YaHei"/>
                <a:ea typeface="Microsoft YaHei"/>
                <a:cs typeface="Microsoft YaHei"/>
              </a:rPr>
              <a:t>核心体验：点蓝色调用，右侧长出新面板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1920240"/>
            <a:ext cx="2926080" cy="2377440"/>
          </a:xfrm>
          <a:prstGeom prst="roundRect">
            <a:avLst/>
          </a:prstGeom>
          <a:solidFill>
            <a:srgbClr val="172238"/>
          </a:solidFill>
          <a:ln w="19050">
            <a:solidFill>
              <a:srgbClr val="4D9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68680" y="1920240"/>
            <a:ext cx="2926080" cy="502920"/>
          </a:xfrm>
          <a:prstGeom prst="roundRect">
            <a:avLst/>
          </a:prstGeom>
          <a:solidFill>
            <a:srgbClr val="4D9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68680" y="2167128"/>
            <a:ext cx="2926080" cy="256032"/>
          </a:xfrm>
          <a:prstGeom prst="rect">
            <a:avLst/>
          </a:prstGeom>
          <a:solidFill>
            <a:srgbClr val="4D9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965960"/>
            <a:ext cx="2926080" cy="457200"/>
          </a:xfrm>
          <a:prstGeom prst="rect">
            <a:avLst/>
          </a:prstGeom>
          <a:noFill/>
        </p:spPr>
        <p:txBody>
          <a:bodyPr wrap="square" anchor="ctr" lIns="76200" rIns="76200" tIns="25400" bIns="25400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0E1627"/>
                </a:solidFill>
                <a:latin typeface="Microsoft YaHei"/>
                <a:ea typeface="Microsoft YaHei"/>
                <a:cs typeface="Microsoft YaHei"/>
              </a:rPr>
              <a:t>函数 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606040"/>
            <a:ext cx="2468880" cy="1554480"/>
          </a:xfrm>
          <a:prstGeom prst="rect">
            <a:avLst/>
          </a:prstGeom>
          <a:noFill/>
        </p:spPr>
        <p:txBody>
          <a:bodyPr wrap="square" anchor="t" lIns="76200" rIns="76200" tIns="25400" bIns="25400">
            <a:spAutoFit/>
          </a:bodyPr>
          <a:lstStyle/>
          <a:p>
            <a:pPr algn="l">
              <a:spcAft>
                <a:spcPts val="1000"/>
              </a:spcAft>
            </a:pPr>
            <a:r>
              <a:rPr sz="1300" b="0" i="0">
                <a:solidFill>
                  <a:srgbClr val="93A1B5"/>
                </a:solidFill>
                <a:latin typeface="Microsoft YaHei"/>
                <a:ea typeface="Microsoft YaHei"/>
                <a:cs typeface="Microsoft YaHei"/>
              </a:rPr>
              <a:t>入口 / 搜索进入</a:t>
            </a:r>
          </a:p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ECF1F8"/>
                </a:solidFill>
                <a:latin typeface="Consolas"/>
                <a:ea typeface="Consolas"/>
                <a:cs typeface="Consolas"/>
              </a:rPr>
              <a:t>  result = </a:t>
            </a:r>
            <a:r>
              <a:rPr sz="1300" b="1" i="0">
                <a:solidFill>
                  <a:srgbClr val="4D9CFF"/>
                </a:solidFill>
                <a:latin typeface="Consolas"/>
                <a:ea typeface="Consolas"/>
                <a:cs typeface="Consolas"/>
              </a:rPr>
              <a:t>call_next()</a:t>
            </a:r>
            <a:r>
              <a:rPr sz="1300" b="0" i="0">
                <a:solidFill>
                  <a:srgbClr val="ECF1F8"/>
                </a:solidFill>
                <a:latin typeface="Consolas"/>
                <a:ea typeface="Consolas"/>
                <a:cs typeface="Consolas"/>
              </a:rPr>
              <a:t>;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60520" y="1920240"/>
            <a:ext cx="2926080" cy="2377440"/>
          </a:xfrm>
          <a:prstGeom prst="roundRect">
            <a:avLst/>
          </a:prstGeom>
          <a:solidFill>
            <a:srgbClr val="172238"/>
          </a:solidFill>
          <a:ln w="19050">
            <a:solidFill>
              <a:srgbClr val="4D9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160520" y="1920240"/>
            <a:ext cx="2926080" cy="502920"/>
          </a:xfrm>
          <a:prstGeom prst="roundRect">
            <a:avLst/>
          </a:prstGeom>
          <a:solidFill>
            <a:srgbClr val="4D9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160520" y="2167128"/>
            <a:ext cx="2926080" cy="256032"/>
          </a:xfrm>
          <a:prstGeom prst="rect">
            <a:avLst/>
          </a:prstGeom>
          <a:solidFill>
            <a:srgbClr val="4D9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60520" y="1965960"/>
            <a:ext cx="2926080" cy="457200"/>
          </a:xfrm>
          <a:prstGeom prst="rect">
            <a:avLst/>
          </a:prstGeom>
          <a:noFill/>
        </p:spPr>
        <p:txBody>
          <a:bodyPr wrap="square" anchor="ctr" lIns="76200" rIns="76200" tIns="25400" bIns="25400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0E1627"/>
                </a:solidFill>
                <a:latin typeface="Microsoft YaHei"/>
                <a:ea typeface="Microsoft YaHei"/>
                <a:cs typeface="Microsoft YaHei"/>
              </a:rPr>
              <a:t>函数 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2606040"/>
            <a:ext cx="2468880" cy="1554480"/>
          </a:xfrm>
          <a:prstGeom prst="rect">
            <a:avLst/>
          </a:prstGeom>
          <a:noFill/>
        </p:spPr>
        <p:txBody>
          <a:bodyPr wrap="square" anchor="t" lIns="76200" rIns="76200" tIns="25400" bIns="25400">
            <a:spAutoFit/>
          </a:bodyPr>
          <a:lstStyle/>
          <a:p>
            <a:pPr algn="l">
              <a:spcAft>
                <a:spcPts val="1000"/>
              </a:spcAft>
            </a:pPr>
            <a:r>
              <a:rPr sz="1300" b="0" i="0">
                <a:solidFill>
                  <a:srgbClr val="93A1B5"/>
                </a:solidFill>
                <a:latin typeface="Microsoft YaHei"/>
                <a:ea typeface="Microsoft YaHei"/>
                <a:cs typeface="Microsoft YaHei"/>
              </a:rPr>
              <a:t>点 A 里的调用打开</a:t>
            </a:r>
          </a:p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ECF1F8"/>
                </a:solidFill>
                <a:latin typeface="Consolas"/>
                <a:ea typeface="Consolas"/>
                <a:cs typeface="Consolas"/>
              </a:rPr>
              <a:t>  result = </a:t>
            </a:r>
            <a:r>
              <a:rPr sz="1300" b="1" i="0">
                <a:solidFill>
                  <a:srgbClr val="4D9CFF"/>
                </a:solidFill>
                <a:latin typeface="Consolas"/>
                <a:ea typeface="Consolas"/>
                <a:cs typeface="Consolas"/>
              </a:rPr>
              <a:t>call_next()</a:t>
            </a:r>
            <a:r>
              <a:rPr sz="1300" b="0" i="0">
                <a:solidFill>
                  <a:srgbClr val="ECF1F8"/>
                </a:solidFill>
                <a:latin typeface="Consolas"/>
                <a:ea typeface="Consolas"/>
                <a:cs typeface="Consolas"/>
              </a:rPr>
              <a:t>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52360" y="1920240"/>
            <a:ext cx="2926080" cy="2377440"/>
          </a:xfrm>
          <a:prstGeom prst="roundRect">
            <a:avLst/>
          </a:prstGeom>
          <a:solidFill>
            <a:srgbClr val="172238"/>
          </a:solidFill>
          <a:ln w="19050">
            <a:solidFill>
              <a:srgbClr val="32D6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452360" y="1920240"/>
            <a:ext cx="2926080" cy="502920"/>
          </a:xfrm>
          <a:prstGeom prst="roundRect">
            <a:avLst/>
          </a:prstGeom>
          <a:solidFill>
            <a:srgbClr val="32D6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452360" y="2167128"/>
            <a:ext cx="2926080" cy="256032"/>
          </a:xfrm>
          <a:prstGeom prst="rect">
            <a:avLst/>
          </a:prstGeom>
          <a:solidFill>
            <a:srgbClr val="32D6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52360" y="1965960"/>
            <a:ext cx="2926080" cy="457200"/>
          </a:xfrm>
          <a:prstGeom prst="rect">
            <a:avLst/>
          </a:prstGeom>
          <a:noFill/>
        </p:spPr>
        <p:txBody>
          <a:bodyPr wrap="square" anchor="ctr" lIns="76200" rIns="76200" tIns="25400" bIns="25400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0E1627"/>
                </a:solidFill>
                <a:latin typeface="Microsoft YaHei"/>
                <a:ea typeface="Microsoft YaHei"/>
                <a:cs typeface="Microsoft YaHei"/>
              </a:rPr>
              <a:t>函数 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80960" y="2606040"/>
            <a:ext cx="2468880" cy="1554480"/>
          </a:xfrm>
          <a:prstGeom prst="rect">
            <a:avLst/>
          </a:prstGeom>
          <a:noFill/>
        </p:spPr>
        <p:txBody>
          <a:bodyPr wrap="square" anchor="t" lIns="76200" rIns="76200" tIns="25400" bIns="25400">
            <a:spAutoFit/>
          </a:bodyPr>
          <a:lstStyle/>
          <a:p>
            <a:pPr algn="l">
              <a:spcAft>
                <a:spcPts val="1000"/>
              </a:spcAft>
            </a:pPr>
            <a:r>
              <a:rPr sz="1300" b="0" i="0">
                <a:solidFill>
                  <a:srgbClr val="93A1B5"/>
                </a:solidFill>
                <a:latin typeface="Microsoft YaHei"/>
                <a:ea typeface="Microsoft YaHei"/>
                <a:cs typeface="Microsoft YaHei"/>
              </a:rPr>
              <a:t>再点 B 里的调用打开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3813048" y="2834640"/>
            <a:ext cx="502920" cy="457200"/>
          </a:xfrm>
          <a:prstGeom prst="rightArrow">
            <a:avLst/>
          </a:prstGeom>
          <a:solidFill>
            <a:srgbClr val="32D6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ight Arrow 20"/>
          <p:cNvSpPr/>
          <p:nvPr/>
        </p:nvSpPr>
        <p:spPr>
          <a:xfrm>
            <a:off x="7104888" y="2834640"/>
            <a:ext cx="502920" cy="457200"/>
          </a:xfrm>
          <a:prstGeom prst="rightArrow">
            <a:avLst/>
          </a:prstGeom>
          <a:solidFill>
            <a:srgbClr val="32D6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" y="4663440"/>
            <a:ext cx="10058400" cy="1097280"/>
          </a:xfrm>
          <a:prstGeom prst="rect">
            <a:avLst/>
          </a:prstGeom>
          <a:noFill/>
        </p:spPr>
        <p:txBody>
          <a:bodyPr wrap="square" anchor="t" lIns="76200" rIns="76200" tIns="25400" bIns="25400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4D9CFF"/>
                </a:solidFill>
                <a:latin typeface="Microsoft YaHei"/>
                <a:ea typeface="Microsoft YaHei"/>
                <a:cs typeface="Microsoft YaHei"/>
              </a:rPr>
              <a:t>新面板向右生长，左侧不被盖住</a:t>
            </a:r>
            <a:r>
              <a:rPr sz="1700" b="0" i="0">
                <a:solidFill>
                  <a:srgbClr val="ECF1F8"/>
                </a:solidFill>
                <a:latin typeface="Microsoft YaHei"/>
                <a:ea typeface="Microsoft YaHei"/>
                <a:cs typeface="Microsoft YaHei"/>
              </a:rPr>
              <a:t> —— 整条调用链 A→B→C 始终可见、可回看、可截图分享。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6355080"/>
            <a:ext cx="10058400" cy="320040"/>
          </a:xfrm>
          <a:prstGeom prst="rect">
            <a:avLst/>
          </a:prstGeom>
          <a:noFill/>
        </p:spPr>
        <p:txBody>
          <a:bodyPr wrap="square" anchor="t" lIns="76200" rIns="76200" tIns="25400" bIns="2540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93A1B5"/>
                </a:solidFill>
                <a:latin typeface="Microsoft YaHei"/>
                <a:ea typeface="Microsoft YaHei"/>
                <a:cs typeface="Microsoft YaHei"/>
              </a:rPr>
              <a:t>SmartCode Browser</a:t>
            </a:r>
            <a:r>
              <a:rPr sz="1000" b="0" i="0">
                <a:solidFill>
                  <a:srgbClr val="93A1B5"/>
                </a:solidFill>
                <a:latin typeface="Microsoft YaHei"/>
                <a:ea typeface="Microsoft YaHei"/>
                <a:cs typeface="Microsoft YaHei"/>
              </a:rPr>
              <a:t>   ·   一个用 Cursor「聊」出来的代码导航工具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241280" y="6355080"/>
            <a:ext cx="1188720" cy="320040"/>
          </a:xfrm>
          <a:prstGeom prst="rect">
            <a:avLst/>
          </a:prstGeom>
          <a:noFill/>
        </p:spPr>
        <p:txBody>
          <a:bodyPr wrap="square" anchor="t" lIns="76200" rIns="76200" tIns="25400" bIns="2540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93A1B5"/>
                </a:solidFill>
                <a:latin typeface="Microsoft YaHei"/>
                <a:ea typeface="Microsoft YaHei"/>
                <a:cs typeface="Microsoft YaHei"/>
              </a:rPr>
              <a:t>04 / 16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E1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66928"/>
            <a:ext cx="91440" cy="502920"/>
          </a:xfrm>
          <a:prstGeom prst="rect">
            <a:avLst/>
          </a:prstGeom>
          <a:solidFill>
            <a:srgbClr val="4D9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457200"/>
            <a:ext cx="10607040" cy="1188720"/>
          </a:xfrm>
          <a:prstGeom prst="rect">
            <a:avLst/>
          </a:prstGeom>
          <a:noFill/>
        </p:spPr>
        <p:txBody>
          <a:bodyPr wrap="square" anchor="t" lIns="76200" rIns="762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 i="0">
                <a:solidFill>
                  <a:srgbClr val="4D9CFF"/>
                </a:solidFill>
                <a:latin typeface="Microsoft YaHei"/>
                <a:ea typeface="Microsoft YaHei"/>
                <a:cs typeface="Microsoft YaHei"/>
              </a:rPr>
              <a:t>它能做什么</a:t>
            </a:r>
          </a:p>
          <a:p>
            <a:pPr algn="l">
              <a:spcAft>
                <a:spcPts val="0"/>
              </a:spcAft>
            </a:pPr>
            <a:r>
              <a:rPr sz="2900" b="1" i="0">
                <a:solidFill>
                  <a:srgbClr val="ECF1F8"/>
                </a:solidFill>
                <a:latin typeface="Microsoft YaHei"/>
                <a:ea typeface="Microsoft YaHei"/>
                <a:cs typeface="Microsoft YaHei"/>
              </a:rPr>
              <a:t>能力一览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1554480"/>
            <a:ext cx="2743200" cy="502920"/>
          </a:xfrm>
          <a:prstGeom prst="roundRect">
            <a:avLst/>
          </a:prstGeom>
          <a:solidFill>
            <a:srgbClr val="1F2D47"/>
          </a:solidFill>
          <a:ln w="19050">
            <a:solidFill>
              <a:srgbClr val="0E16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/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4D9CFF"/>
                </a:solidFill>
                <a:latin typeface="Microsoft YaHei"/>
                <a:ea typeface="Microsoft YaHei"/>
                <a:cs typeface="Microsoft YaHei"/>
              </a:rPr>
              <a:t>能力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11880" y="1554480"/>
            <a:ext cx="6949440" cy="502920"/>
          </a:xfrm>
          <a:prstGeom prst="roundRect">
            <a:avLst/>
          </a:prstGeom>
          <a:solidFill>
            <a:srgbClr val="1F2D47"/>
          </a:solidFill>
          <a:ln w="19050">
            <a:solidFill>
              <a:srgbClr val="0E16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/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ECF1F8"/>
                </a:solidFill>
                <a:latin typeface="Microsoft YaHei"/>
                <a:ea typeface="Microsoft YaHei"/>
                <a:cs typeface="Microsoft YaHei"/>
              </a:rPr>
              <a:t>一句话说明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2057400"/>
            <a:ext cx="2743200" cy="548640"/>
          </a:xfrm>
          <a:prstGeom prst="roundRect">
            <a:avLst/>
          </a:prstGeom>
          <a:solidFill>
            <a:srgbClr val="172238"/>
          </a:solidFill>
          <a:ln w="19050">
            <a:solidFill>
              <a:srgbClr val="0E16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01600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ECF1F8"/>
                </a:solidFill>
                <a:latin typeface="Microsoft YaHei"/>
                <a:ea typeface="Microsoft YaHei"/>
                <a:cs typeface="Microsoft YaHei"/>
              </a:rPr>
              <a:t>调用 → 定义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11880" y="2057400"/>
            <a:ext cx="6949440" cy="548640"/>
          </a:xfrm>
          <a:prstGeom prst="roundRect">
            <a:avLst/>
          </a:prstGeom>
          <a:solidFill>
            <a:srgbClr val="172238"/>
          </a:solidFill>
          <a:ln w="19050">
            <a:solidFill>
              <a:srgbClr val="0E16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01600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 i="0">
                <a:solidFill>
                  <a:srgbClr val="93A1B5"/>
                </a:solidFill>
                <a:latin typeface="Microsoft YaHei"/>
                <a:ea typeface="Microsoft YaHei"/>
                <a:cs typeface="Microsoft YaHei"/>
              </a:rPr>
              <a:t>点蓝色引用，级联展开；多实现时真实现优先、空桩靠后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2606040"/>
            <a:ext cx="2743200" cy="548640"/>
          </a:xfrm>
          <a:prstGeom prst="roundRect">
            <a:avLst/>
          </a:prstGeom>
          <a:solidFill>
            <a:srgbClr val="1F2D47"/>
          </a:solidFill>
          <a:ln w="19050">
            <a:solidFill>
              <a:srgbClr val="0E16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01600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ECF1F8"/>
                </a:solidFill>
                <a:latin typeface="Microsoft YaHei"/>
                <a:ea typeface="Microsoft YaHei"/>
                <a:cs typeface="Microsoft YaHei"/>
              </a:rPr>
              <a:t>变量 → 声明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11880" y="2606040"/>
            <a:ext cx="6949440" cy="548640"/>
          </a:xfrm>
          <a:prstGeom prst="roundRect">
            <a:avLst/>
          </a:prstGeom>
          <a:solidFill>
            <a:srgbClr val="1F2D47"/>
          </a:solidFill>
          <a:ln w="19050">
            <a:solidFill>
              <a:srgbClr val="0E16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01600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 i="0">
                <a:solidFill>
                  <a:srgbClr val="93A1B5"/>
                </a:solidFill>
                <a:latin typeface="Microsoft YaHei"/>
                <a:ea typeface="Microsoft YaHei"/>
                <a:cs typeface="Microsoft YaHei"/>
              </a:rPr>
              <a:t>局部变量本面板高亮，全局 / 字段 / 枚举开新面板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3154680"/>
            <a:ext cx="2743200" cy="548640"/>
          </a:xfrm>
          <a:prstGeom prst="roundRect">
            <a:avLst/>
          </a:prstGeom>
          <a:solidFill>
            <a:srgbClr val="172238"/>
          </a:solidFill>
          <a:ln w="19050">
            <a:solidFill>
              <a:srgbClr val="0E16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01600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ECF1F8"/>
                </a:solidFill>
                <a:latin typeface="Microsoft YaHei"/>
                <a:ea typeface="Microsoft YaHei"/>
                <a:cs typeface="Microsoft YaHei"/>
              </a:rPr>
              <a:t>查找用法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11880" y="3154680"/>
            <a:ext cx="6949440" cy="548640"/>
          </a:xfrm>
          <a:prstGeom prst="roundRect">
            <a:avLst/>
          </a:prstGeom>
          <a:solidFill>
            <a:srgbClr val="172238"/>
          </a:solidFill>
          <a:ln w="19050">
            <a:solidFill>
              <a:srgbClr val="0E16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01600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 i="0">
                <a:solidFill>
                  <a:srgbClr val="93A1B5"/>
                </a:solidFill>
                <a:latin typeface="Microsoft YaHei"/>
                <a:ea typeface="Microsoft YaHei"/>
                <a:cs typeface="Microsoft YaHei"/>
              </a:rPr>
              <a:t>Alt/Ctrl+点击 或右键，看谁在用这个符号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" y="3703320"/>
            <a:ext cx="2743200" cy="548640"/>
          </a:xfrm>
          <a:prstGeom prst="roundRect">
            <a:avLst/>
          </a:prstGeom>
          <a:solidFill>
            <a:srgbClr val="1F2D47"/>
          </a:solidFill>
          <a:ln w="19050">
            <a:solidFill>
              <a:srgbClr val="0E16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01600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ECF1F8"/>
                </a:solidFill>
                <a:latin typeface="Microsoft YaHei"/>
                <a:ea typeface="Microsoft YaHei"/>
                <a:cs typeface="Microsoft YaHei"/>
              </a:rPr>
              <a:t>符号搜索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11880" y="3703320"/>
            <a:ext cx="6949440" cy="548640"/>
          </a:xfrm>
          <a:prstGeom prst="roundRect">
            <a:avLst/>
          </a:prstGeom>
          <a:solidFill>
            <a:srgbClr val="1F2D47"/>
          </a:solidFill>
          <a:ln w="19050">
            <a:solidFill>
              <a:srgbClr val="0E16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01600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 i="0">
                <a:solidFill>
                  <a:srgbClr val="93A1B5"/>
                </a:solidFill>
                <a:latin typeface="Microsoft YaHei"/>
                <a:ea typeface="Microsoft YaHei"/>
                <a:cs typeface="Microsoft YaHei"/>
              </a:rPr>
              <a:t>支持 in:路径 限定范围，从任意入口开始追链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68680" y="4251960"/>
            <a:ext cx="2743200" cy="548640"/>
          </a:xfrm>
          <a:prstGeom prst="roundRect">
            <a:avLst/>
          </a:prstGeom>
          <a:solidFill>
            <a:srgbClr val="172238"/>
          </a:solidFill>
          <a:ln w="19050">
            <a:solidFill>
              <a:srgbClr val="0E16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01600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ECF1F8"/>
                </a:solidFill>
                <a:latin typeface="Microsoft YaHei"/>
                <a:ea typeface="Microsoft YaHei"/>
                <a:cs typeface="Microsoft YaHei"/>
              </a:rPr>
              <a:t>多 arch 消歧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11880" y="4251960"/>
            <a:ext cx="6949440" cy="548640"/>
          </a:xfrm>
          <a:prstGeom prst="roundRect">
            <a:avLst/>
          </a:prstGeom>
          <a:solidFill>
            <a:srgbClr val="172238"/>
          </a:solidFill>
          <a:ln w="19050">
            <a:solidFill>
              <a:srgbClr val="0E16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01600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 i="0">
                <a:solidFill>
                  <a:srgbClr val="93A1B5"/>
                </a:solidFill>
                <a:latin typeface="Microsoft YaHei"/>
                <a:ea typeface="Microsoft YaHei"/>
                <a:cs typeface="Microsoft YaHei"/>
              </a:rPr>
              <a:t>配 compile_commands.json 后跳到真正被编译的那一份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8680" y="4800600"/>
            <a:ext cx="2743200" cy="548640"/>
          </a:xfrm>
          <a:prstGeom prst="roundRect">
            <a:avLst/>
          </a:prstGeom>
          <a:solidFill>
            <a:srgbClr val="1F2D47"/>
          </a:solidFill>
          <a:ln w="19050">
            <a:solidFill>
              <a:srgbClr val="0E16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01600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ECF1F8"/>
                </a:solidFill>
                <a:latin typeface="Microsoft YaHei"/>
                <a:ea typeface="Microsoft YaHei"/>
                <a:cs typeface="Microsoft YaHei"/>
              </a:rPr>
              <a:t>会话 / 标签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11880" y="4800600"/>
            <a:ext cx="6949440" cy="548640"/>
          </a:xfrm>
          <a:prstGeom prst="roundRect">
            <a:avLst/>
          </a:prstGeom>
          <a:solidFill>
            <a:srgbClr val="1F2D47"/>
          </a:solidFill>
          <a:ln w="19050">
            <a:solidFill>
              <a:srgbClr val="0E16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01600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 i="0">
                <a:solidFill>
                  <a:srgbClr val="93A1B5"/>
                </a:solidFill>
                <a:latin typeface="Microsoft YaHei"/>
                <a:ea typeface="Microsoft YaHei"/>
                <a:cs typeface="Microsoft YaHei"/>
              </a:rPr>
              <a:t>刷新自动恢复 + 命名保存探索路径，方便交接分享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68680" y="5349240"/>
            <a:ext cx="2743200" cy="548640"/>
          </a:xfrm>
          <a:prstGeom prst="roundRect">
            <a:avLst/>
          </a:prstGeom>
          <a:solidFill>
            <a:srgbClr val="172238"/>
          </a:solidFill>
          <a:ln w="19050">
            <a:solidFill>
              <a:srgbClr val="0E16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01600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ECF1F8"/>
                </a:solidFill>
                <a:latin typeface="Microsoft YaHei"/>
                <a:ea typeface="Microsoft YaHei"/>
                <a:cs typeface="Microsoft YaHei"/>
              </a:rPr>
              <a:t>可选 AI 分析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611880" y="5349240"/>
            <a:ext cx="6949440" cy="548640"/>
          </a:xfrm>
          <a:prstGeom prst="roundRect">
            <a:avLst/>
          </a:prstGeom>
          <a:solidFill>
            <a:srgbClr val="172238"/>
          </a:solidFill>
          <a:ln w="19050">
            <a:solidFill>
              <a:srgbClr val="0E16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01600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 i="0">
                <a:solidFill>
                  <a:srgbClr val="93A1B5"/>
                </a:solidFill>
                <a:latin typeface="Microsoft YaHei"/>
                <a:ea typeface="Microsoft YaHei"/>
                <a:cs typeface="Microsoft YaHei"/>
              </a:rPr>
              <a:t>对当前函数提问，走 cursor-agent（复用 Cursor 登录）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5760720"/>
            <a:ext cx="10058400" cy="457200"/>
          </a:xfrm>
          <a:prstGeom prst="rect">
            <a:avLst/>
          </a:prstGeom>
          <a:noFill/>
        </p:spPr>
        <p:txBody>
          <a:bodyPr wrap="square" anchor="t" lIns="76200" rIns="76200" tIns="25400" bIns="2540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93A1B5"/>
                </a:solidFill>
                <a:latin typeface="Microsoft YaHei"/>
                <a:ea typeface="Microsoft YaHei"/>
                <a:cs typeface="Microsoft YaHei"/>
              </a:rPr>
              <a:t>语言无关：C/C++ · Python · Java · Scala/Chisel —— 换语言、换项目主要靠配置。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6355080"/>
            <a:ext cx="10058400" cy="320040"/>
          </a:xfrm>
          <a:prstGeom prst="rect">
            <a:avLst/>
          </a:prstGeom>
          <a:noFill/>
        </p:spPr>
        <p:txBody>
          <a:bodyPr wrap="square" anchor="t" lIns="76200" rIns="76200" tIns="25400" bIns="2540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93A1B5"/>
                </a:solidFill>
                <a:latin typeface="Microsoft YaHei"/>
                <a:ea typeface="Microsoft YaHei"/>
                <a:cs typeface="Microsoft YaHei"/>
              </a:rPr>
              <a:t>SmartCode Browser</a:t>
            </a:r>
            <a:r>
              <a:rPr sz="1000" b="0" i="0">
                <a:solidFill>
                  <a:srgbClr val="93A1B5"/>
                </a:solidFill>
                <a:latin typeface="Microsoft YaHei"/>
                <a:ea typeface="Microsoft YaHei"/>
                <a:cs typeface="Microsoft YaHei"/>
              </a:rPr>
              <a:t>   ·   一个用 Cursor「聊」出来的代码导航工具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41280" y="6355080"/>
            <a:ext cx="1188720" cy="320040"/>
          </a:xfrm>
          <a:prstGeom prst="rect">
            <a:avLst/>
          </a:prstGeom>
          <a:noFill/>
        </p:spPr>
        <p:txBody>
          <a:bodyPr wrap="square" anchor="t" lIns="76200" rIns="76200" tIns="25400" bIns="2540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93A1B5"/>
                </a:solidFill>
                <a:latin typeface="Microsoft YaHei"/>
                <a:ea typeface="Microsoft YaHei"/>
                <a:cs typeface="Microsoft YaHei"/>
              </a:rPr>
              <a:t>05 / 16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E1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66928"/>
            <a:ext cx="91440" cy="502920"/>
          </a:xfrm>
          <a:prstGeom prst="rect">
            <a:avLst/>
          </a:prstGeom>
          <a:solidFill>
            <a:srgbClr val="32D6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457200"/>
            <a:ext cx="10607040" cy="1188720"/>
          </a:xfrm>
          <a:prstGeom prst="rect">
            <a:avLst/>
          </a:prstGeom>
          <a:noFill/>
        </p:spPr>
        <p:txBody>
          <a:bodyPr wrap="square" anchor="t" lIns="76200" rIns="762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 i="0">
                <a:solidFill>
                  <a:srgbClr val="32D6C0"/>
                </a:solidFill>
                <a:latin typeface="Microsoft YaHei"/>
                <a:ea typeface="Microsoft YaHei"/>
                <a:cs typeface="Microsoft YaHei"/>
              </a:rPr>
              <a:t>现场演示</a:t>
            </a:r>
          </a:p>
          <a:p>
            <a:pPr algn="l">
              <a:spcAft>
                <a:spcPts val="0"/>
              </a:spcAft>
            </a:pPr>
            <a:r>
              <a:rPr sz="2900" b="1" i="0">
                <a:solidFill>
                  <a:srgbClr val="ECF1F8"/>
                </a:solidFill>
                <a:latin typeface="Microsoft YaHei"/>
                <a:ea typeface="Microsoft YaHei"/>
                <a:cs typeface="Microsoft YaHei"/>
              </a:rPr>
              <a:t>三分钟看明白（重点两个动作）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1828800"/>
            <a:ext cx="640080" cy="960120"/>
          </a:xfrm>
          <a:prstGeom prst="roundRect">
            <a:avLst/>
          </a:prstGeom>
          <a:solidFill>
            <a:srgbClr val="32D6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0"/>
              </a:spcAft>
            </a:pPr>
            <a:r>
              <a:rPr sz="2600" b="1" i="0">
                <a:solidFill>
                  <a:srgbClr val="0E1627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691640" y="1828800"/>
            <a:ext cx="8869680" cy="960120"/>
          </a:xfrm>
          <a:prstGeom prst="roundRect">
            <a:avLst/>
          </a:prstGeom>
          <a:solidFill>
            <a:srgbClr val="172238"/>
          </a:solidFill>
          <a:ln w="12700">
            <a:solidFill>
              <a:srgbClr val="2A3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965960" y="1975104"/>
            <a:ext cx="8412480" cy="731520"/>
          </a:xfrm>
          <a:prstGeom prst="rect">
            <a:avLst/>
          </a:prstGeom>
          <a:noFill/>
        </p:spPr>
        <p:txBody>
          <a:bodyPr wrap="square" anchor="ctr" lIns="76200" rIns="76200" tIns="25400" bIns="25400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 i="0">
                <a:solidFill>
                  <a:srgbClr val="ECF1F8"/>
                </a:solidFill>
                <a:latin typeface="Microsoft YaHei"/>
                <a:ea typeface="Microsoft YaHei"/>
                <a:cs typeface="Microsoft YaHei"/>
              </a:rPr>
              <a:t>搜入口 → 连点 2~3 层调用</a:t>
            </a:r>
          </a:p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93A1B5"/>
                </a:solidFill>
                <a:latin typeface="Microsoft YaHei"/>
                <a:ea typeface="Microsoft YaHei"/>
                <a:cs typeface="Microsoft YaHei"/>
              </a:rPr>
              <a:t>面板一块块向右长出来 —— 全场最直观的瞬间，口播调用链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2990088"/>
            <a:ext cx="640080" cy="960120"/>
          </a:xfrm>
          <a:prstGeom prst="roundRect">
            <a:avLst/>
          </a:prstGeom>
          <a:solidFill>
            <a:srgbClr val="32D6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0"/>
              </a:spcAft>
            </a:pPr>
            <a:r>
              <a:rPr sz="2600" b="1" i="0">
                <a:solidFill>
                  <a:srgbClr val="0E1627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691640" y="2990088"/>
            <a:ext cx="8869680" cy="960120"/>
          </a:xfrm>
          <a:prstGeom prst="roundRect">
            <a:avLst/>
          </a:prstGeom>
          <a:solidFill>
            <a:srgbClr val="172238"/>
          </a:solidFill>
          <a:ln w="12700">
            <a:solidFill>
              <a:srgbClr val="2A3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965960" y="3136392"/>
            <a:ext cx="8412480" cy="731520"/>
          </a:xfrm>
          <a:prstGeom prst="rect">
            <a:avLst/>
          </a:prstGeom>
          <a:noFill/>
        </p:spPr>
        <p:txBody>
          <a:bodyPr wrap="square" anchor="ctr" lIns="76200" rIns="76200" tIns="25400" bIns="25400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 i="0">
                <a:solidFill>
                  <a:srgbClr val="ECF1F8"/>
                </a:solidFill>
                <a:latin typeface="Microsoft YaHei"/>
                <a:ea typeface="Microsoft YaHei"/>
                <a:cs typeface="Microsoft YaHei"/>
              </a:rPr>
              <a:t>保存标签 → 刷新恢复</a:t>
            </a:r>
          </a:p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93A1B5"/>
                </a:solidFill>
                <a:latin typeface="Microsoft YaHei"/>
                <a:ea typeface="Microsoft YaHei"/>
                <a:cs typeface="Microsoft YaHei"/>
              </a:rPr>
              <a:t>命名保存路径 → F5，阅读树自动恢复，强调「可续」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4151376"/>
            <a:ext cx="640080" cy="960120"/>
          </a:xfrm>
          <a:prstGeom prst="roundRect">
            <a:avLst/>
          </a:prstGeom>
          <a:solidFill>
            <a:srgbClr val="FFB1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0"/>
              </a:spcAft>
            </a:pPr>
            <a:r>
              <a:rPr sz="2600" b="1" i="0">
                <a:solidFill>
                  <a:srgbClr val="0E1627"/>
                </a:solidFill>
                <a:latin typeface="Microsoft YaHei"/>
                <a:ea typeface="Microsoft YaHei"/>
                <a:cs typeface="Microsoft YaHei"/>
              </a:rPr>
              <a:t>★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691640" y="4151376"/>
            <a:ext cx="8869680" cy="960120"/>
          </a:xfrm>
          <a:prstGeom prst="roundRect">
            <a:avLst/>
          </a:prstGeom>
          <a:solidFill>
            <a:srgbClr val="172238"/>
          </a:solidFill>
          <a:ln w="12700">
            <a:solidFill>
              <a:srgbClr val="2A3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691640" y="4151376"/>
            <a:ext cx="82296" cy="960120"/>
          </a:xfrm>
          <a:prstGeom prst="rect">
            <a:avLst/>
          </a:prstGeom>
          <a:solidFill>
            <a:srgbClr val="FFB1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965960" y="4297680"/>
            <a:ext cx="8412480" cy="731520"/>
          </a:xfrm>
          <a:prstGeom prst="rect">
            <a:avLst/>
          </a:prstGeom>
          <a:noFill/>
        </p:spPr>
        <p:txBody>
          <a:bodyPr wrap="square" anchor="ctr" lIns="76200" rIns="76200" tIns="25400" bIns="25400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 i="0">
                <a:solidFill>
                  <a:srgbClr val="ECF1F8"/>
                </a:solidFill>
                <a:latin typeface="Microsoft YaHei"/>
                <a:ea typeface="Microsoft YaHei"/>
                <a:cs typeface="Microsoft YaHei"/>
              </a:rPr>
              <a:t>吃自己的狗粮</a:t>
            </a:r>
          </a:p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93A1B5"/>
                </a:solidFill>
                <a:latin typeface="Microsoft YaHei"/>
                <a:ea typeface="Microsoft YaHei"/>
                <a:cs typeface="Microsoft YaHei"/>
              </a:rPr>
              <a:t>当场用这个工具去读它自己的源码 —— AI 做的工具来读代码，最有记忆点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5532120"/>
            <a:ext cx="10058400" cy="457200"/>
          </a:xfrm>
          <a:prstGeom prst="rect">
            <a:avLst/>
          </a:prstGeom>
          <a:noFill/>
        </p:spPr>
        <p:txBody>
          <a:bodyPr wrap="square" anchor="t" lIns="76200" rIns="76200" tIns="25400" bIns="2540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1">
                <a:solidFill>
                  <a:srgbClr val="93A1B5"/>
                </a:solidFill>
                <a:latin typeface="Microsoft YaHei"/>
                <a:ea typeface="Microsoft YaHei"/>
                <a:cs typeface="Microsoft YaHei"/>
              </a:rPr>
              <a:t>其它（查用法、多候选选真实现、AI 提问）视时间补充，别让演示掉节奏。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6355080"/>
            <a:ext cx="10058400" cy="320040"/>
          </a:xfrm>
          <a:prstGeom prst="rect">
            <a:avLst/>
          </a:prstGeom>
          <a:noFill/>
        </p:spPr>
        <p:txBody>
          <a:bodyPr wrap="square" anchor="t" lIns="76200" rIns="76200" tIns="25400" bIns="2540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93A1B5"/>
                </a:solidFill>
                <a:latin typeface="Microsoft YaHei"/>
                <a:ea typeface="Microsoft YaHei"/>
                <a:cs typeface="Microsoft YaHei"/>
              </a:rPr>
              <a:t>SmartCode Browser</a:t>
            </a:r>
            <a:r>
              <a:rPr sz="1000" b="0" i="0">
                <a:solidFill>
                  <a:srgbClr val="93A1B5"/>
                </a:solidFill>
                <a:latin typeface="Microsoft YaHei"/>
                <a:ea typeface="Microsoft YaHei"/>
                <a:cs typeface="Microsoft YaHei"/>
              </a:rPr>
              <a:t>   ·   一个用 Cursor「聊」出来的代码导航工具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241280" y="6355080"/>
            <a:ext cx="1188720" cy="320040"/>
          </a:xfrm>
          <a:prstGeom prst="rect">
            <a:avLst/>
          </a:prstGeom>
          <a:noFill/>
        </p:spPr>
        <p:txBody>
          <a:bodyPr wrap="square" anchor="t" lIns="76200" rIns="76200" tIns="25400" bIns="2540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93A1B5"/>
                </a:solidFill>
                <a:latin typeface="Microsoft YaHei"/>
                <a:ea typeface="Microsoft YaHei"/>
                <a:cs typeface="Microsoft YaHei"/>
              </a:rPr>
              <a:t>06 / 16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E1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737360"/>
            <a:ext cx="12192000" cy="1554480"/>
          </a:xfrm>
          <a:prstGeom prst="rect">
            <a:avLst/>
          </a:prstGeom>
          <a:solidFill>
            <a:srgbClr val="17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1737360"/>
            <a:ext cx="128016" cy="1554480"/>
          </a:xfrm>
          <a:prstGeom prst="rect">
            <a:avLst/>
          </a:prstGeom>
          <a:solidFill>
            <a:srgbClr val="FFB1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1828800"/>
            <a:ext cx="9601200" cy="1371600"/>
          </a:xfrm>
          <a:prstGeom prst="rect">
            <a:avLst/>
          </a:prstGeom>
          <a:noFill/>
        </p:spPr>
        <p:txBody>
          <a:bodyPr wrap="square" anchor="ctr" lIns="76200" rIns="762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FFB14D"/>
                </a:solidFill>
                <a:latin typeface="Microsoft YaHei"/>
                <a:ea typeface="Microsoft YaHei"/>
                <a:cs typeface="Microsoft YaHei"/>
              </a:rPr>
              <a:t>PART · 重点</a:t>
            </a:r>
          </a:p>
          <a:p>
            <a:pPr algn="l">
              <a:spcAft>
                <a:spcPts val="0"/>
              </a:spcAft>
            </a:pPr>
            <a:r>
              <a:rPr sz="3300" b="1" i="0">
                <a:solidFill>
                  <a:srgbClr val="ECF1F8"/>
                </a:solidFill>
                <a:latin typeface="Microsoft YaHei"/>
                <a:ea typeface="Microsoft YaHei"/>
                <a:cs typeface="Microsoft YaHei"/>
              </a:rPr>
              <a:t>怎么用 Cursor 把这个工具「聊」出来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3749039"/>
            <a:ext cx="2331720" cy="1143000"/>
          </a:xfrm>
          <a:prstGeom prst="roundRect">
            <a:avLst/>
          </a:prstGeom>
          <a:solidFill>
            <a:srgbClr val="172238"/>
          </a:solidFill>
          <a:ln w="12700">
            <a:solidFill>
              <a:srgbClr val="2A3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3895343"/>
            <a:ext cx="2331720" cy="914400"/>
          </a:xfrm>
          <a:prstGeom prst="rect">
            <a:avLst/>
          </a:prstGeom>
          <a:noFill/>
        </p:spPr>
        <p:txBody>
          <a:bodyPr wrap="square" anchor="ctr" lIns="76200" rIns="76200" tIns="25400" bIns="25400">
            <a:spAutoFit/>
          </a:bodyPr>
          <a:lstStyle/>
          <a:p>
            <a:pPr algn="ctr">
              <a:spcAft>
                <a:spcPts val="200"/>
              </a:spcAft>
            </a:pPr>
            <a:r>
              <a:rPr sz="3000" b="1" i="0">
                <a:solidFill>
                  <a:srgbClr val="4D9CFF"/>
                </a:solidFill>
                <a:latin typeface="Microsoft YaHei"/>
                <a:ea typeface="Microsoft YaHei"/>
                <a:cs typeface="Microsoft YaHei"/>
              </a:rPr>
              <a:t>≈6900</a:t>
            </a:r>
          </a:p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93A1B5"/>
                </a:solidFill>
                <a:latin typeface="Microsoft YaHei"/>
                <a:ea typeface="Microsoft YaHei"/>
                <a:cs typeface="Microsoft YaHei"/>
              </a:rPr>
              <a:t>行代码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83280" y="3749039"/>
            <a:ext cx="2331720" cy="1143000"/>
          </a:xfrm>
          <a:prstGeom prst="roundRect">
            <a:avLst/>
          </a:prstGeom>
          <a:solidFill>
            <a:srgbClr val="172238"/>
          </a:solidFill>
          <a:ln w="12700">
            <a:solidFill>
              <a:srgbClr val="2A3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83280" y="3895343"/>
            <a:ext cx="2331720" cy="914400"/>
          </a:xfrm>
          <a:prstGeom prst="rect">
            <a:avLst/>
          </a:prstGeom>
          <a:noFill/>
        </p:spPr>
        <p:txBody>
          <a:bodyPr wrap="square" anchor="ctr" lIns="76200" rIns="76200" tIns="25400" bIns="25400">
            <a:spAutoFit/>
          </a:bodyPr>
          <a:lstStyle/>
          <a:p>
            <a:pPr algn="ctr">
              <a:spcAft>
                <a:spcPts val="200"/>
              </a:spcAft>
            </a:pPr>
            <a:r>
              <a:rPr sz="3000" b="1" i="0">
                <a:solidFill>
                  <a:srgbClr val="FFB14D"/>
                </a:solidFill>
                <a:latin typeface="Microsoft YaHei"/>
                <a:ea typeface="Microsoft YaHei"/>
                <a:cs typeface="Microsoft YaHei"/>
              </a:rPr>
              <a:t>8</a:t>
            </a:r>
          </a:p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93A1B5"/>
                </a:solidFill>
                <a:latin typeface="Microsoft YaHei"/>
                <a:ea typeface="Microsoft YaHei"/>
                <a:cs typeface="Microsoft YaHei"/>
              </a:rPr>
              <a:t>个 Python 模块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897880" y="3749039"/>
            <a:ext cx="2331720" cy="1143000"/>
          </a:xfrm>
          <a:prstGeom prst="roundRect">
            <a:avLst/>
          </a:prstGeom>
          <a:solidFill>
            <a:srgbClr val="172238"/>
          </a:solidFill>
          <a:ln w="12700">
            <a:solidFill>
              <a:srgbClr val="2A3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897880" y="3895343"/>
            <a:ext cx="2331720" cy="914400"/>
          </a:xfrm>
          <a:prstGeom prst="rect">
            <a:avLst/>
          </a:prstGeom>
          <a:noFill/>
        </p:spPr>
        <p:txBody>
          <a:bodyPr wrap="square" anchor="ctr" lIns="76200" rIns="76200" tIns="25400" bIns="25400">
            <a:spAutoFit/>
          </a:bodyPr>
          <a:lstStyle/>
          <a:p>
            <a:pPr algn="ctr">
              <a:spcAft>
                <a:spcPts val="200"/>
              </a:spcAft>
            </a:pPr>
            <a:r>
              <a:rPr sz="3000" b="1" i="0">
                <a:solidFill>
                  <a:srgbClr val="4D9CFF"/>
                </a:solidFill>
                <a:latin typeface="Microsoft YaHei"/>
                <a:ea typeface="Microsoft YaHei"/>
                <a:cs typeface="Microsoft YaHei"/>
              </a:rPr>
              <a:t>~2400</a:t>
            </a:r>
          </a:p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93A1B5"/>
                </a:solidFill>
                <a:latin typeface="Microsoft YaHei"/>
                <a:ea typeface="Microsoft YaHei"/>
                <a:cs typeface="Microsoft YaHei"/>
              </a:rPr>
              <a:t>行前端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12480" y="3749039"/>
            <a:ext cx="2331720" cy="1143000"/>
          </a:xfrm>
          <a:prstGeom prst="roundRect">
            <a:avLst/>
          </a:prstGeom>
          <a:solidFill>
            <a:srgbClr val="172238"/>
          </a:solidFill>
          <a:ln w="12700">
            <a:solidFill>
              <a:srgbClr val="2A3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80" y="3895343"/>
            <a:ext cx="2331720" cy="914400"/>
          </a:xfrm>
          <a:prstGeom prst="rect">
            <a:avLst/>
          </a:prstGeom>
          <a:noFill/>
        </p:spPr>
        <p:txBody>
          <a:bodyPr wrap="square" anchor="ctr" lIns="76200" rIns="76200" tIns="25400" bIns="25400">
            <a:spAutoFit/>
          </a:bodyPr>
          <a:lstStyle/>
          <a:p>
            <a:pPr algn="ctr">
              <a:spcAft>
                <a:spcPts val="200"/>
              </a:spcAft>
            </a:pPr>
            <a:r>
              <a:rPr sz="3000" b="1" i="0">
                <a:solidFill>
                  <a:srgbClr val="FFB14D"/>
                </a:solidFill>
                <a:latin typeface="Microsoft YaHei"/>
                <a:ea typeface="Microsoft YaHei"/>
                <a:cs typeface="Microsoft YaHei"/>
              </a:rPr>
              <a:t>7+</a:t>
            </a:r>
          </a:p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93A1B5"/>
                </a:solidFill>
                <a:latin typeface="Microsoft YaHei"/>
                <a:ea typeface="Microsoft YaHei"/>
                <a:cs typeface="Microsoft YaHei"/>
              </a:rPr>
              <a:t>次能力迭代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5120640"/>
            <a:ext cx="10058400" cy="457200"/>
          </a:xfrm>
          <a:prstGeom prst="rect">
            <a:avLst/>
          </a:prstGeom>
          <a:noFill/>
        </p:spPr>
        <p:txBody>
          <a:bodyPr wrap="square" anchor="t" lIns="76200" rIns="76200" tIns="25400" bIns="2540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93A1B5"/>
                </a:solidFill>
                <a:latin typeface="Microsoft YaHei"/>
                <a:ea typeface="Microsoft YaHei"/>
                <a:cs typeface="Microsoft YaHei"/>
              </a:rPr>
              <a:t>几乎全程 AI 结对完成 —— 人几乎没手写实现，只在「说清楚要什么」和「把关」上花时间。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E1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66928"/>
            <a:ext cx="91440" cy="502920"/>
          </a:xfrm>
          <a:prstGeom prst="rect">
            <a:avLst/>
          </a:prstGeom>
          <a:solidFill>
            <a:srgbClr val="FFB1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457200"/>
            <a:ext cx="10607040" cy="1188720"/>
          </a:xfrm>
          <a:prstGeom prst="rect">
            <a:avLst/>
          </a:prstGeom>
          <a:noFill/>
        </p:spPr>
        <p:txBody>
          <a:bodyPr wrap="square" anchor="t" lIns="76200" rIns="762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 i="0">
                <a:solidFill>
                  <a:srgbClr val="FFB14D"/>
                </a:solidFill>
                <a:latin typeface="Microsoft YaHei"/>
                <a:ea typeface="Microsoft YaHei"/>
                <a:cs typeface="Microsoft YaHei"/>
              </a:rPr>
              <a:t>怎么造的 (1/4)</a:t>
            </a:r>
          </a:p>
          <a:p>
            <a:pPr algn="l">
              <a:spcAft>
                <a:spcPts val="0"/>
              </a:spcAft>
            </a:pPr>
            <a:r>
              <a:rPr sz="2900" b="1" i="0">
                <a:solidFill>
                  <a:srgbClr val="ECF1F8"/>
                </a:solidFill>
                <a:latin typeface="Microsoft YaHei"/>
                <a:ea typeface="Microsoft YaHei"/>
                <a:cs typeface="Microsoft YaHei"/>
              </a:rPr>
              <a:t>核心理念：不写实现，写「想要什么」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1737360"/>
            <a:ext cx="3291840" cy="3108960"/>
          </a:xfrm>
          <a:prstGeom prst="roundRect">
            <a:avLst/>
          </a:prstGeom>
          <a:solidFill>
            <a:srgbClr val="172238"/>
          </a:solidFill>
          <a:ln w="12700">
            <a:solidFill>
              <a:srgbClr val="2A3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68680" y="1737360"/>
            <a:ext cx="82296" cy="3108960"/>
          </a:xfrm>
          <a:prstGeom prst="rect">
            <a:avLst/>
          </a:prstGeom>
          <a:solidFill>
            <a:srgbClr val="FFB1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24712" y="1883664"/>
            <a:ext cx="2834640" cy="2834640"/>
          </a:xfrm>
          <a:prstGeom prst="rect">
            <a:avLst/>
          </a:prstGeom>
          <a:noFill/>
        </p:spPr>
        <p:txBody>
          <a:bodyPr wrap="square" anchor="t" lIns="76200" rIns="76200" tIns="25400" bIns="25400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1" i="0">
                <a:solidFill>
                  <a:srgbClr val="ECF1F8"/>
                </a:solidFill>
                <a:latin typeface="Microsoft YaHei"/>
                <a:ea typeface="Microsoft YaHei"/>
                <a:cs typeface="Microsoft YaHei"/>
              </a:rPr>
              <a:t>从真实痛点出发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500" b="1" i="0">
                <a:solidFill>
                  <a:srgbClr val="FFB14D"/>
                </a:solidFill>
                <a:latin typeface="Microsoft YaHei"/>
                <a:ea typeface="Microsoft YaHei"/>
                <a:cs typeface="Microsoft YaHei"/>
              </a:rPr>
              <a:t>·  </a:t>
            </a:r>
            <a:r>
              <a:rPr sz="1500" b="0" i="0">
                <a:solidFill>
                  <a:srgbClr val="93A1B5"/>
                </a:solidFill>
                <a:latin typeface="Microsoft YaHei"/>
                <a:ea typeface="Microsoft YaHei"/>
                <a:cs typeface="Microsoft YaHei"/>
              </a:rPr>
              <a:t>起点是「读 cpuidle 调用链很累」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500" b="1" i="0">
                <a:solidFill>
                  <a:srgbClr val="FFB14D"/>
                </a:solidFill>
                <a:latin typeface="Microsoft YaHei"/>
                <a:ea typeface="Microsoft YaHei"/>
                <a:cs typeface="Microsoft YaHei"/>
              </a:rPr>
              <a:t>·  </a:t>
            </a:r>
            <a:r>
              <a:rPr sz="1500" b="0" i="0">
                <a:solidFill>
                  <a:srgbClr val="93A1B5"/>
                </a:solidFill>
                <a:latin typeface="Microsoft YaHei"/>
                <a:ea typeface="Microsoft YaHei"/>
                <a:cs typeface="Microsoft YaHei"/>
              </a:rPr>
              <a:t>不是「我想学个新框架」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500" b="1" i="0">
                <a:solidFill>
                  <a:srgbClr val="FFB14D"/>
                </a:solidFill>
                <a:latin typeface="Microsoft YaHei"/>
                <a:ea typeface="Microsoft YaHei"/>
                <a:cs typeface="Microsoft YaHei"/>
              </a:rPr>
              <a:t>·  </a:t>
            </a:r>
            <a:r>
              <a:rPr sz="1500" b="0" i="0">
                <a:solidFill>
                  <a:srgbClr val="93A1B5"/>
                </a:solidFill>
                <a:latin typeface="Microsoft YaHei"/>
                <a:ea typeface="Microsoft YaHei"/>
                <a:cs typeface="Microsoft YaHei"/>
              </a:rPr>
              <a:t>需求来自真实工程，验收也回真实工程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737360"/>
            <a:ext cx="3291840" cy="3108960"/>
          </a:xfrm>
          <a:prstGeom prst="roundRect">
            <a:avLst/>
          </a:prstGeom>
          <a:solidFill>
            <a:srgbClr val="172238"/>
          </a:solidFill>
          <a:ln w="12700">
            <a:solidFill>
              <a:srgbClr val="2A3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89120" y="1737360"/>
            <a:ext cx="82296" cy="3108960"/>
          </a:xfrm>
          <a:prstGeom prst="rect">
            <a:avLst/>
          </a:prstGeom>
          <a:solidFill>
            <a:srgbClr val="4D9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45152" y="1883664"/>
            <a:ext cx="2834640" cy="2834640"/>
          </a:xfrm>
          <a:prstGeom prst="rect">
            <a:avLst/>
          </a:prstGeom>
          <a:noFill/>
        </p:spPr>
        <p:txBody>
          <a:bodyPr wrap="square" anchor="t" lIns="76200" rIns="76200" tIns="25400" bIns="25400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1" i="0">
                <a:solidFill>
                  <a:srgbClr val="ECF1F8"/>
                </a:solidFill>
                <a:latin typeface="Microsoft YaHei"/>
                <a:ea typeface="Microsoft YaHei"/>
                <a:cs typeface="Microsoft YaHei"/>
              </a:rPr>
              <a:t>用自然语言描述需求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500" b="1" i="0">
                <a:solidFill>
                  <a:srgbClr val="4D9CFF"/>
                </a:solidFill>
                <a:latin typeface="Microsoft YaHei"/>
                <a:ea typeface="Microsoft YaHei"/>
                <a:cs typeface="Microsoft YaHei"/>
              </a:rPr>
              <a:t>·  </a:t>
            </a:r>
            <a:r>
              <a:rPr sz="1500" b="0" i="0">
                <a:solidFill>
                  <a:srgbClr val="93A1B5"/>
                </a:solidFill>
                <a:latin typeface="Microsoft YaHei"/>
                <a:ea typeface="Microsoft YaHei"/>
                <a:cs typeface="Microsoft YaHei"/>
              </a:rPr>
              <a:t>「点调用就在右边展开定义」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500" b="1" i="0">
                <a:solidFill>
                  <a:srgbClr val="4D9CFF"/>
                </a:solidFill>
                <a:latin typeface="Microsoft YaHei"/>
                <a:ea typeface="Microsoft YaHei"/>
                <a:cs typeface="Microsoft YaHei"/>
              </a:rPr>
              <a:t>·  </a:t>
            </a:r>
            <a:r>
              <a:rPr sz="1500" b="0" i="0">
                <a:solidFill>
                  <a:srgbClr val="93A1B5"/>
                </a:solidFill>
                <a:latin typeface="Microsoft YaHei"/>
                <a:ea typeface="Microsoft YaHei"/>
                <a:cs typeface="Microsoft YaHei"/>
              </a:rPr>
              <a:t>「同名多实现时真实现优先」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500" b="1" i="0">
                <a:solidFill>
                  <a:srgbClr val="4D9CFF"/>
                </a:solidFill>
                <a:latin typeface="Microsoft YaHei"/>
                <a:ea typeface="Microsoft YaHei"/>
                <a:cs typeface="Microsoft YaHei"/>
              </a:rPr>
              <a:t>·  </a:t>
            </a:r>
            <a:r>
              <a:rPr sz="1500" b="0" i="0">
                <a:solidFill>
                  <a:srgbClr val="93A1B5"/>
                </a:solidFill>
                <a:latin typeface="Microsoft YaHei"/>
                <a:ea typeface="Microsoft YaHei"/>
                <a:cs typeface="Microsoft YaHei"/>
              </a:rPr>
              <a:t>AI 负责翻译成跨文件的代码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09560" y="1737360"/>
            <a:ext cx="3291840" cy="3108960"/>
          </a:xfrm>
          <a:prstGeom prst="roundRect">
            <a:avLst/>
          </a:prstGeom>
          <a:solidFill>
            <a:srgbClr val="172238"/>
          </a:solidFill>
          <a:ln w="12700">
            <a:solidFill>
              <a:srgbClr val="2A3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909560" y="1737360"/>
            <a:ext cx="82296" cy="3108960"/>
          </a:xfrm>
          <a:prstGeom prst="rect">
            <a:avLst/>
          </a:prstGeom>
          <a:solidFill>
            <a:srgbClr val="32D6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65592" y="1883664"/>
            <a:ext cx="2834640" cy="2834640"/>
          </a:xfrm>
          <a:prstGeom prst="rect">
            <a:avLst/>
          </a:prstGeom>
          <a:noFill/>
        </p:spPr>
        <p:txBody>
          <a:bodyPr wrap="square" anchor="t" lIns="76200" rIns="76200" tIns="25400" bIns="25400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1" i="0">
                <a:solidFill>
                  <a:srgbClr val="ECF1F8"/>
                </a:solidFill>
                <a:latin typeface="Microsoft YaHei"/>
                <a:ea typeface="Microsoft YaHei"/>
                <a:cs typeface="Microsoft YaHei"/>
              </a:rPr>
              <a:t>人审 + 小步迭代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500" b="1" i="0">
                <a:solidFill>
                  <a:srgbClr val="32D6C0"/>
                </a:solidFill>
                <a:latin typeface="Microsoft YaHei"/>
                <a:ea typeface="Microsoft YaHei"/>
                <a:cs typeface="Microsoft YaHei"/>
              </a:rPr>
              <a:t>·  </a:t>
            </a:r>
            <a:r>
              <a:rPr sz="1500" b="0" i="0">
                <a:solidFill>
                  <a:srgbClr val="93A1B5"/>
                </a:solidFill>
                <a:latin typeface="Microsoft YaHei"/>
                <a:ea typeface="Microsoft YaHei"/>
                <a:cs typeface="Microsoft YaHei"/>
              </a:rPr>
              <a:t>每个能力一个 commit，独立验证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500" b="1" i="0">
                <a:solidFill>
                  <a:srgbClr val="32D6C0"/>
                </a:solidFill>
                <a:latin typeface="Microsoft YaHei"/>
                <a:ea typeface="Microsoft YaHei"/>
                <a:cs typeface="Microsoft YaHei"/>
              </a:rPr>
              <a:t>·  </a:t>
            </a:r>
            <a:r>
              <a:rPr sz="1500" b="0" i="0">
                <a:solidFill>
                  <a:srgbClr val="93A1B5"/>
                </a:solidFill>
                <a:latin typeface="Microsoft YaHei"/>
                <a:ea typeface="Microsoft YaHei"/>
                <a:cs typeface="Microsoft YaHei"/>
              </a:rPr>
              <a:t>跑起来不对就回退、重新描述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500" b="1" i="0">
                <a:solidFill>
                  <a:srgbClr val="32D6C0"/>
                </a:solidFill>
                <a:latin typeface="Microsoft YaHei"/>
                <a:ea typeface="Microsoft YaHei"/>
                <a:cs typeface="Microsoft YaHei"/>
              </a:rPr>
              <a:t>·  </a:t>
            </a:r>
            <a:r>
              <a:rPr sz="1500" b="0" i="0">
                <a:solidFill>
                  <a:srgbClr val="93A1B5"/>
                </a:solidFill>
                <a:latin typeface="Microsoft YaHei"/>
                <a:ea typeface="Microsoft YaHei"/>
                <a:cs typeface="Microsoft YaHei"/>
              </a:rPr>
              <a:t>实现是 AI 的活儿，方向是人的活儿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5120640"/>
            <a:ext cx="10058400" cy="640080"/>
          </a:xfrm>
          <a:prstGeom prst="rect">
            <a:avLst/>
          </a:prstGeom>
          <a:noFill/>
        </p:spPr>
        <p:txBody>
          <a:bodyPr wrap="square" anchor="t" lIns="76200" rIns="76200" tIns="25400" bIns="2540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FFB14D"/>
                </a:solidFill>
                <a:latin typeface="Microsoft YaHei"/>
                <a:ea typeface="Microsoft YaHei"/>
                <a:cs typeface="Microsoft YaHei"/>
              </a:rPr>
              <a:t>一句话：</a:t>
            </a:r>
            <a:r>
              <a:rPr sz="1600" b="0" i="0">
                <a:solidFill>
                  <a:srgbClr val="ECF1F8"/>
                </a:solidFill>
                <a:latin typeface="Microsoft YaHei"/>
                <a:ea typeface="Microsoft YaHei"/>
                <a:cs typeface="Microsoft YaHei"/>
              </a:rPr>
              <a:t>把 Cursor 当「随叫随到的结对工程师」—— 你负责想清楚，它负责写出来。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6355080"/>
            <a:ext cx="10058400" cy="320040"/>
          </a:xfrm>
          <a:prstGeom prst="rect">
            <a:avLst/>
          </a:prstGeom>
          <a:noFill/>
        </p:spPr>
        <p:txBody>
          <a:bodyPr wrap="square" anchor="t" lIns="76200" rIns="76200" tIns="25400" bIns="2540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93A1B5"/>
                </a:solidFill>
                <a:latin typeface="Microsoft YaHei"/>
                <a:ea typeface="Microsoft YaHei"/>
                <a:cs typeface="Microsoft YaHei"/>
              </a:rPr>
              <a:t>SmartCode Browser</a:t>
            </a:r>
            <a:r>
              <a:rPr sz="1000" b="0" i="0">
                <a:solidFill>
                  <a:srgbClr val="93A1B5"/>
                </a:solidFill>
                <a:latin typeface="Microsoft YaHei"/>
                <a:ea typeface="Microsoft YaHei"/>
                <a:cs typeface="Microsoft YaHei"/>
              </a:rPr>
              <a:t>   ·   一个用 Cursor「聊」出来的代码导航工具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41280" y="6355080"/>
            <a:ext cx="1188720" cy="320040"/>
          </a:xfrm>
          <a:prstGeom prst="rect">
            <a:avLst/>
          </a:prstGeom>
          <a:noFill/>
        </p:spPr>
        <p:txBody>
          <a:bodyPr wrap="square" anchor="t" lIns="76200" rIns="76200" tIns="25400" bIns="2540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93A1B5"/>
                </a:solidFill>
                <a:latin typeface="Microsoft YaHei"/>
                <a:ea typeface="Microsoft YaHei"/>
                <a:cs typeface="Microsoft YaHei"/>
              </a:rPr>
              <a:t>08 / 16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E1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66928"/>
            <a:ext cx="91440" cy="502920"/>
          </a:xfrm>
          <a:prstGeom prst="rect">
            <a:avLst/>
          </a:prstGeom>
          <a:solidFill>
            <a:srgbClr val="FFB1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457200"/>
            <a:ext cx="10607040" cy="1188720"/>
          </a:xfrm>
          <a:prstGeom prst="rect">
            <a:avLst/>
          </a:prstGeom>
          <a:noFill/>
        </p:spPr>
        <p:txBody>
          <a:bodyPr wrap="square" anchor="t" lIns="76200" rIns="762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 i="0">
                <a:solidFill>
                  <a:srgbClr val="FFB14D"/>
                </a:solidFill>
                <a:latin typeface="Microsoft YaHei"/>
                <a:ea typeface="Microsoft YaHei"/>
                <a:cs typeface="Microsoft YaHei"/>
              </a:rPr>
              <a:t>怎么造的 (2/4)</a:t>
            </a:r>
          </a:p>
          <a:p>
            <a:pPr algn="l">
              <a:spcAft>
                <a:spcPts val="0"/>
              </a:spcAft>
            </a:pPr>
            <a:r>
              <a:rPr sz="2900" b="1" i="0">
                <a:solidFill>
                  <a:srgbClr val="ECF1F8"/>
                </a:solidFill>
                <a:latin typeface="Microsoft YaHei"/>
                <a:ea typeface="Microsoft YaHei"/>
                <a:cs typeface="Microsoft YaHei"/>
              </a:rPr>
              <a:t>真实迭代时间线（每条 = 一次对话 + 一个 commit）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1645920"/>
            <a:ext cx="27432" cy="4041648"/>
          </a:xfrm>
          <a:prstGeom prst="rect">
            <a:avLst/>
          </a:prstGeom>
          <a:solidFill>
            <a:srgbClr val="2A3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170432" y="1700784"/>
            <a:ext cx="420624" cy="420624"/>
          </a:xfrm>
          <a:prstGeom prst="roundRect">
            <a:avLst/>
          </a:prstGeom>
          <a:solidFill>
            <a:srgbClr val="4D9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0E1627"/>
                </a:solidFill>
                <a:latin typeface="Microsoft YaHei"/>
                <a:ea typeface="Microsoft YaHei"/>
                <a:cs typeface="Microsoft YaHei"/>
              </a:rPr>
              <a:t>v0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1645920"/>
            <a:ext cx="8686800" cy="603504"/>
          </a:xfrm>
          <a:prstGeom prst="rect">
            <a:avLst/>
          </a:prstGeom>
          <a:noFill/>
        </p:spPr>
        <p:txBody>
          <a:bodyPr wrap="square" anchor="ctr" lIns="76200" rIns="76200" tIns="25400" bIns="2540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ECF1F8"/>
                </a:solidFill>
                <a:latin typeface="Microsoft YaHei"/>
                <a:ea typeface="Microsoft YaHei"/>
                <a:cs typeface="Microsoft YaHei"/>
              </a:rPr>
              <a:t>独立级联浏览器    </a:t>
            </a:r>
            <a:r>
              <a:rPr sz="1300" b="0" i="0">
                <a:solidFill>
                  <a:srgbClr val="93A1B5"/>
                </a:solidFill>
                <a:latin typeface="Microsoft YaHei"/>
                <a:ea typeface="Microsoft YaHei"/>
                <a:cs typeface="Microsoft YaHei"/>
              </a:rPr>
              <a:t>先把「点调用→右侧展开」的骨架跑起来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70432" y="2304288"/>
            <a:ext cx="420624" cy="420624"/>
          </a:xfrm>
          <a:prstGeom prst="roundRect">
            <a:avLst/>
          </a:prstGeom>
          <a:solidFill>
            <a:srgbClr val="4D9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0E1627"/>
                </a:solidFill>
                <a:latin typeface="Microsoft YaHei"/>
                <a:ea typeface="Microsoft YaHei"/>
                <a:cs typeface="Microsoft YaHei"/>
              </a:rPr>
              <a:t>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2249424"/>
            <a:ext cx="8686800" cy="603504"/>
          </a:xfrm>
          <a:prstGeom prst="rect">
            <a:avLst/>
          </a:prstGeom>
          <a:noFill/>
        </p:spPr>
        <p:txBody>
          <a:bodyPr wrap="square" anchor="ctr" lIns="76200" rIns="76200" tIns="25400" bIns="2540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ECF1F8"/>
                </a:solidFill>
                <a:latin typeface="Microsoft YaHei"/>
                <a:ea typeface="Microsoft YaHei"/>
                <a:cs typeface="Microsoft YaHei"/>
              </a:rPr>
              <a:t>面板去重 · 拖动避让 · 会话标签    </a:t>
            </a:r>
            <a:r>
              <a:rPr sz="1300" b="0" i="0">
                <a:solidFill>
                  <a:srgbClr val="93A1B5"/>
                </a:solidFill>
                <a:latin typeface="Microsoft YaHei"/>
                <a:ea typeface="Microsoft YaHei"/>
                <a:cs typeface="Microsoft YaHei"/>
              </a:rPr>
              <a:t>让多面板好用：刷新恢复、命名保存路径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70432" y="2907792"/>
            <a:ext cx="420624" cy="420624"/>
          </a:xfrm>
          <a:prstGeom prst="roundRect">
            <a:avLst/>
          </a:prstGeom>
          <a:solidFill>
            <a:srgbClr val="32D6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0E1627"/>
                </a:solidFill>
                <a:latin typeface="Microsoft YaHei"/>
                <a:ea typeface="Microsoft YaHei"/>
                <a:cs typeface="Microsoft YaHei"/>
              </a:rPr>
              <a:t>+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2852928"/>
            <a:ext cx="8686800" cy="603504"/>
          </a:xfrm>
          <a:prstGeom prst="rect">
            <a:avLst/>
          </a:prstGeom>
          <a:noFill/>
        </p:spPr>
        <p:txBody>
          <a:bodyPr wrap="square" anchor="ctr" lIns="76200" rIns="76200" tIns="25400" bIns="2540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ECF1F8"/>
                </a:solidFill>
                <a:latin typeface="Microsoft YaHei"/>
                <a:ea typeface="Microsoft YaHei"/>
                <a:cs typeface="Microsoft YaHei"/>
              </a:rPr>
              <a:t>AI 分析侧栏（cursor-agent）    </a:t>
            </a:r>
            <a:r>
              <a:rPr sz="1300" b="0" i="0">
                <a:solidFill>
                  <a:srgbClr val="93A1B5"/>
                </a:solidFill>
                <a:latin typeface="Microsoft YaHei"/>
                <a:ea typeface="Microsoft YaHei"/>
                <a:cs typeface="Microsoft YaHei"/>
              </a:rPr>
              <a:t>把 Cursor 接进浏览器，对当前函数提问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70432" y="3511296"/>
            <a:ext cx="420624" cy="420624"/>
          </a:xfrm>
          <a:prstGeom prst="roundRect">
            <a:avLst/>
          </a:prstGeom>
          <a:solidFill>
            <a:srgbClr val="32D6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0E1627"/>
                </a:solidFill>
                <a:latin typeface="Microsoft YaHei"/>
                <a:ea typeface="Microsoft YaHei"/>
                <a:cs typeface="Microsoft YaHei"/>
              </a:rPr>
              <a:t>+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3456432"/>
            <a:ext cx="8686800" cy="603504"/>
          </a:xfrm>
          <a:prstGeom prst="rect">
            <a:avLst/>
          </a:prstGeom>
          <a:noFill/>
        </p:spPr>
        <p:txBody>
          <a:bodyPr wrap="square" anchor="ctr" lIns="76200" rIns="76200" tIns="25400" bIns="2540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ECF1F8"/>
                </a:solidFill>
                <a:latin typeface="Microsoft YaHei"/>
                <a:ea typeface="Microsoft YaHei"/>
                <a:cs typeface="Microsoft YaHei"/>
              </a:rPr>
              <a:t>搜索支持 in:路径 限定    </a:t>
            </a:r>
            <a:r>
              <a:rPr sz="1300" b="0" i="0">
                <a:solidFill>
                  <a:srgbClr val="93A1B5"/>
                </a:solidFill>
                <a:latin typeface="Microsoft YaHei"/>
                <a:ea typeface="Microsoft YaHei"/>
                <a:cs typeface="Microsoft YaHei"/>
              </a:rPr>
              <a:t>大库里更快定位入口符号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70432" y="4114800"/>
            <a:ext cx="420624" cy="420624"/>
          </a:xfrm>
          <a:prstGeom prst="roundRect">
            <a:avLst/>
          </a:prstGeom>
          <a:solidFill>
            <a:srgbClr val="FFB1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0E1627"/>
                </a:solidFill>
                <a:latin typeface="Microsoft YaHei"/>
                <a:ea typeface="Microsoft YaHei"/>
                <a:cs typeface="Microsoft YaHei"/>
              </a:rPr>
              <a:t>+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4059936"/>
            <a:ext cx="8686800" cy="603504"/>
          </a:xfrm>
          <a:prstGeom prst="rect">
            <a:avLst/>
          </a:prstGeom>
          <a:noFill/>
        </p:spPr>
        <p:txBody>
          <a:bodyPr wrap="square" anchor="ctr" lIns="76200" rIns="76200" tIns="25400" bIns="2540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ECF1F8"/>
                </a:solidFill>
                <a:latin typeface="Microsoft YaHei"/>
                <a:ea typeface="Microsoft YaHei"/>
                <a:cs typeface="Microsoft YaHei"/>
              </a:rPr>
              <a:t>函数指针跳转 · 宏修复 · 索引缓存    </a:t>
            </a:r>
            <a:r>
              <a:rPr sz="1300" b="0" i="0">
                <a:solidFill>
                  <a:srgbClr val="93A1B5"/>
                </a:solidFill>
                <a:latin typeface="Microsoft YaHei"/>
                <a:ea typeface="Microsoft YaHei"/>
                <a:cs typeface="Microsoft YaHei"/>
              </a:rPr>
              <a:t>真用内核时撞到的边界，逐个补上 + 提速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70432" y="4718304"/>
            <a:ext cx="420624" cy="420624"/>
          </a:xfrm>
          <a:prstGeom prst="roundRect">
            <a:avLst/>
          </a:prstGeom>
          <a:solidFill>
            <a:srgbClr val="FFB1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0E1627"/>
                </a:solidFill>
                <a:latin typeface="Microsoft YaHei"/>
                <a:ea typeface="Microsoft YaHei"/>
                <a:cs typeface="Microsoft YaHei"/>
              </a:rPr>
              <a:t>+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4663440"/>
            <a:ext cx="8686800" cy="603504"/>
          </a:xfrm>
          <a:prstGeom prst="rect">
            <a:avLst/>
          </a:prstGeom>
          <a:noFill/>
        </p:spPr>
        <p:txBody>
          <a:bodyPr wrap="square" anchor="ctr" lIns="76200" rIns="76200" tIns="25400" bIns="2540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ECF1F8"/>
                </a:solidFill>
                <a:latin typeface="Microsoft YaHei"/>
                <a:ea typeface="Microsoft YaHei"/>
                <a:cs typeface="Microsoft YaHei"/>
              </a:rPr>
              <a:t>查用法 · 连线锚点优化    </a:t>
            </a:r>
            <a:r>
              <a:rPr sz="1300" b="0" i="0">
                <a:solidFill>
                  <a:srgbClr val="93A1B5"/>
                </a:solidFill>
                <a:latin typeface="Microsoft YaHei"/>
                <a:ea typeface="Microsoft YaHei"/>
                <a:cs typeface="Microsoft YaHei"/>
              </a:rPr>
              <a:t>往回看依赖 + 视觉打磨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70432" y="5321808"/>
            <a:ext cx="420624" cy="420624"/>
          </a:xfrm>
          <a:prstGeom prst="roundRect">
            <a:avLst/>
          </a:prstGeom>
          <a:solidFill>
            <a:srgbClr val="4D9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0E1627"/>
                </a:solidFill>
                <a:latin typeface="Microsoft YaHei"/>
                <a:ea typeface="Microsoft YaHei"/>
                <a:cs typeface="Microsoft YaHei"/>
              </a:rPr>
              <a:t>now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28800" y="5266944"/>
            <a:ext cx="8686800" cy="603504"/>
          </a:xfrm>
          <a:prstGeom prst="rect">
            <a:avLst/>
          </a:prstGeom>
          <a:noFill/>
        </p:spPr>
        <p:txBody>
          <a:bodyPr wrap="square" anchor="ctr" lIns="76200" rIns="76200" tIns="25400" bIns="2540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ECF1F8"/>
                </a:solidFill>
                <a:latin typeface="Microsoft YaHei"/>
                <a:ea typeface="Microsoft YaHei"/>
                <a:cs typeface="Microsoft YaHei"/>
              </a:rPr>
              <a:t>多入口跳同一函数时复用面板    </a:t>
            </a:r>
            <a:r>
              <a:rPr sz="1300" b="0" i="0">
                <a:solidFill>
                  <a:srgbClr val="93A1B5"/>
                </a:solidFill>
                <a:latin typeface="Microsoft YaHei"/>
                <a:ea typeface="Microsoft YaHei"/>
                <a:cs typeface="Microsoft YaHei"/>
              </a:rPr>
              <a:t>细节体验持续抛光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355080"/>
            <a:ext cx="10058400" cy="320040"/>
          </a:xfrm>
          <a:prstGeom prst="rect">
            <a:avLst/>
          </a:prstGeom>
          <a:noFill/>
        </p:spPr>
        <p:txBody>
          <a:bodyPr wrap="square" anchor="t" lIns="76200" rIns="76200" tIns="25400" bIns="2540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93A1B5"/>
                </a:solidFill>
                <a:latin typeface="Microsoft YaHei"/>
                <a:ea typeface="Microsoft YaHei"/>
                <a:cs typeface="Microsoft YaHei"/>
              </a:rPr>
              <a:t>SmartCode Browser</a:t>
            </a:r>
            <a:r>
              <a:rPr sz="1000" b="0" i="0">
                <a:solidFill>
                  <a:srgbClr val="93A1B5"/>
                </a:solidFill>
                <a:latin typeface="Microsoft YaHei"/>
                <a:ea typeface="Microsoft YaHei"/>
                <a:cs typeface="Microsoft YaHei"/>
              </a:rPr>
              <a:t>   ·   一个用 Cursor「聊」出来的代码导航工具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41280" y="6355080"/>
            <a:ext cx="1188720" cy="320040"/>
          </a:xfrm>
          <a:prstGeom prst="rect">
            <a:avLst/>
          </a:prstGeom>
          <a:noFill/>
        </p:spPr>
        <p:txBody>
          <a:bodyPr wrap="square" anchor="t" lIns="76200" rIns="76200" tIns="25400" bIns="2540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93A1B5"/>
                </a:solidFill>
                <a:latin typeface="Microsoft YaHei"/>
                <a:ea typeface="Microsoft YaHei"/>
                <a:cs typeface="Microsoft YaHei"/>
              </a:rPr>
              <a:t>09 / 16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E1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66928"/>
            <a:ext cx="91440" cy="502920"/>
          </a:xfrm>
          <a:prstGeom prst="rect">
            <a:avLst/>
          </a:prstGeom>
          <a:solidFill>
            <a:srgbClr val="FFB1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457200"/>
            <a:ext cx="10607040" cy="1188720"/>
          </a:xfrm>
          <a:prstGeom prst="rect">
            <a:avLst/>
          </a:prstGeom>
          <a:noFill/>
        </p:spPr>
        <p:txBody>
          <a:bodyPr wrap="square" anchor="t" lIns="76200" rIns="762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 i="0">
                <a:solidFill>
                  <a:srgbClr val="FFB14D"/>
                </a:solidFill>
                <a:latin typeface="Microsoft YaHei"/>
                <a:ea typeface="Microsoft YaHei"/>
                <a:cs typeface="Microsoft YaHei"/>
              </a:rPr>
              <a:t>怎么造的 (3/4)</a:t>
            </a:r>
          </a:p>
          <a:p>
            <a:pPr algn="l">
              <a:spcAft>
                <a:spcPts val="0"/>
              </a:spcAft>
            </a:pPr>
            <a:r>
              <a:rPr sz="2900" b="1" i="0">
                <a:solidFill>
                  <a:srgbClr val="ECF1F8"/>
                </a:solidFill>
                <a:latin typeface="Microsoft YaHei"/>
                <a:ea typeface="Microsoft YaHei"/>
                <a:cs typeface="Microsoft YaHei"/>
              </a:rPr>
              <a:t>具体怎么和 Cursor 配合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1691640"/>
            <a:ext cx="4754880" cy="1234440"/>
          </a:xfrm>
          <a:prstGeom prst="roundRect">
            <a:avLst/>
          </a:prstGeom>
          <a:solidFill>
            <a:srgbClr val="172238"/>
          </a:solidFill>
          <a:ln w="12700">
            <a:solidFill>
              <a:srgbClr val="2A3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68680" y="1691640"/>
            <a:ext cx="82296" cy="1234440"/>
          </a:xfrm>
          <a:prstGeom prst="rect">
            <a:avLst/>
          </a:prstGeom>
          <a:solidFill>
            <a:srgbClr val="4D9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24712" y="1801368"/>
            <a:ext cx="4297680" cy="1014984"/>
          </a:xfrm>
          <a:prstGeom prst="rect">
            <a:avLst/>
          </a:prstGeom>
          <a:noFill/>
        </p:spPr>
        <p:txBody>
          <a:bodyPr wrap="square" anchor="ctr" lIns="76200" rIns="762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ECF1F8"/>
                </a:solidFill>
                <a:latin typeface="Microsoft YaHei"/>
                <a:ea typeface="Microsoft YaHei"/>
                <a:cs typeface="Microsoft YaHei"/>
              </a:rPr>
              <a:t>Agent / Composer 多文件改</a:t>
            </a:r>
          </a:p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93A1B5"/>
                </a:solidFill>
                <a:latin typeface="Microsoft YaHei"/>
                <a:ea typeface="Microsoft YaHei"/>
                <a:cs typeface="Microsoft YaHei"/>
              </a:rPr>
              <a:t>一句需求同时改后端 + 前端，保持端到端一致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06440" y="1691640"/>
            <a:ext cx="4754880" cy="1234440"/>
          </a:xfrm>
          <a:prstGeom prst="roundRect">
            <a:avLst/>
          </a:prstGeom>
          <a:solidFill>
            <a:srgbClr val="172238"/>
          </a:solidFill>
          <a:ln w="12700">
            <a:solidFill>
              <a:srgbClr val="2A3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806440" y="1691640"/>
            <a:ext cx="82296" cy="1234440"/>
          </a:xfrm>
          <a:prstGeom prst="rect">
            <a:avLst/>
          </a:prstGeom>
          <a:solidFill>
            <a:srgbClr val="FFB1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62472" y="1801368"/>
            <a:ext cx="4297680" cy="1014984"/>
          </a:xfrm>
          <a:prstGeom prst="rect">
            <a:avLst/>
          </a:prstGeom>
          <a:noFill/>
        </p:spPr>
        <p:txBody>
          <a:bodyPr wrap="square" anchor="ctr" lIns="76200" rIns="762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ECF1F8"/>
                </a:solidFill>
                <a:latin typeface="Microsoft YaHei"/>
                <a:ea typeface="Microsoft YaHei"/>
                <a:cs typeface="Microsoft YaHei"/>
              </a:rPr>
              <a:t>@ 引用精确喂上下文</a:t>
            </a:r>
          </a:p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93A1B5"/>
                </a:solidFill>
                <a:latin typeface="Microsoft YaHei"/>
                <a:ea typeface="Microsoft YaHei"/>
                <a:cs typeface="Microsoft YaHei"/>
              </a:rPr>
              <a:t>@文件 / @符号 指给 AI，少绕弯、改得准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3090672"/>
            <a:ext cx="4754880" cy="1234440"/>
          </a:xfrm>
          <a:prstGeom prst="roundRect">
            <a:avLst/>
          </a:prstGeom>
          <a:solidFill>
            <a:srgbClr val="172238"/>
          </a:solidFill>
          <a:ln w="12700">
            <a:solidFill>
              <a:srgbClr val="2A3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68680" y="3090672"/>
            <a:ext cx="82296" cy="1234440"/>
          </a:xfrm>
          <a:prstGeom prst="rect">
            <a:avLst/>
          </a:prstGeom>
          <a:solidFill>
            <a:srgbClr val="4D9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24712" y="3200400"/>
            <a:ext cx="4297680" cy="1014984"/>
          </a:xfrm>
          <a:prstGeom prst="rect">
            <a:avLst/>
          </a:prstGeom>
          <a:noFill/>
        </p:spPr>
        <p:txBody>
          <a:bodyPr wrap="square" anchor="ctr" lIns="76200" rIns="762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ECF1F8"/>
                </a:solidFill>
                <a:latin typeface="Microsoft YaHei"/>
                <a:ea typeface="Microsoft YaHei"/>
                <a:cs typeface="Microsoft YaHei"/>
              </a:rPr>
              <a:t>边写边跑自检</a:t>
            </a:r>
          </a:p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93A1B5"/>
                </a:solidFill>
                <a:latin typeface="Microsoft YaHei"/>
                <a:ea typeface="Microsoft YaHei"/>
                <a:cs typeface="Microsoft YaHei"/>
              </a:rPr>
              <a:t>curl 接口 + 浏览器实时看效果，错了立刻反馈给 AI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806440" y="3090672"/>
            <a:ext cx="4754880" cy="1234440"/>
          </a:xfrm>
          <a:prstGeom prst="roundRect">
            <a:avLst/>
          </a:prstGeom>
          <a:solidFill>
            <a:srgbClr val="172238"/>
          </a:solidFill>
          <a:ln w="12700">
            <a:solidFill>
              <a:srgbClr val="2A3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806440" y="3090672"/>
            <a:ext cx="82296" cy="1234440"/>
          </a:xfrm>
          <a:prstGeom prst="rect">
            <a:avLst/>
          </a:prstGeom>
          <a:solidFill>
            <a:srgbClr val="FFB1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62472" y="3200400"/>
            <a:ext cx="4297680" cy="1014984"/>
          </a:xfrm>
          <a:prstGeom prst="rect">
            <a:avLst/>
          </a:prstGeom>
          <a:noFill/>
        </p:spPr>
        <p:txBody>
          <a:bodyPr wrap="square" anchor="ctr" lIns="76200" rIns="762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ECF1F8"/>
                </a:solidFill>
                <a:latin typeface="Microsoft YaHei"/>
                <a:ea typeface="Microsoft YaHei"/>
                <a:cs typeface="Microsoft YaHei"/>
              </a:rPr>
              <a:t>SpecStory 留存对话</a:t>
            </a:r>
          </a:p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93A1B5"/>
                </a:solidFill>
                <a:latin typeface="Microsoft YaHei"/>
                <a:ea typeface="Microsoft YaHei"/>
                <a:cs typeface="Microsoft YaHei"/>
              </a:rPr>
              <a:t>.specstory/ 自动记录每次会话 = 开发决策日志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8680" y="4489704"/>
            <a:ext cx="4754880" cy="1234440"/>
          </a:xfrm>
          <a:prstGeom prst="roundRect">
            <a:avLst/>
          </a:prstGeom>
          <a:solidFill>
            <a:srgbClr val="172238"/>
          </a:solidFill>
          <a:ln w="12700">
            <a:solidFill>
              <a:srgbClr val="2A3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68680" y="4489704"/>
            <a:ext cx="82296" cy="1234440"/>
          </a:xfrm>
          <a:prstGeom prst="rect">
            <a:avLst/>
          </a:prstGeom>
          <a:solidFill>
            <a:srgbClr val="4D9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24712" y="4599432"/>
            <a:ext cx="4297680" cy="1014984"/>
          </a:xfrm>
          <a:prstGeom prst="rect">
            <a:avLst/>
          </a:prstGeom>
          <a:noFill/>
        </p:spPr>
        <p:txBody>
          <a:bodyPr wrap="square" anchor="ctr" lIns="76200" rIns="762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ECF1F8"/>
                </a:solidFill>
                <a:latin typeface="Microsoft YaHei"/>
                <a:ea typeface="Microsoft YaHei"/>
                <a:cs typeface="Microsoft YaHei"/>
              </a:rPr>
              <a:t>吃自己的狗粮</a:t>
            </a:r>
          </a:p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93A1B5"/>
                </a:solidFill>
                <a:latin typeface="Microsoft YaHei"/>
                <a:ea typeface="Microsoft YaHei"/>
                <a:cs typeface="Microsoft YaHei"/>
              </a:rPr>
              <a:t>registry 默认指向本仓库，用工具读工具自身代码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806440" y="4489704"/>
            <a:ext cx="4754880" cy="1234440"/>
          </a:xfrm>
          <a:prstGeom prst="roundRect">
            <a:avLst/>
          </a:prstGeom>
          <a:solidFill>
            <a:srgbClr val="172238"/>
          </a:solidFill>
          <a:ln w="12700">
            <a:solidFill>
              <a:srgbClr val="2A3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806440" y="4489704"/>
            <a:ext cx="82296" cy="1234440"/>
          </a:xfrm>
          <a:prstGeom prst="rect">
            <a:avLst/>
          </a:prstGeom>
          <a:solidFill>
            <a:srgbClr val="FFB1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062472" y="4599432"/>
            <a:ext cx="4297680" cy="1014984"/>
          </a:xfrm>
          <a:prstGeom prst="rect">
            <a:avLst/>
          </a:prstGeom>
          <a:noFill/>
        </p:spPr>
        <p:txBody>
          <a:bodyPr wrap="square" anchor="ctr" lIns="76200" rIns="762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ECF1F8"/>
                </a:solidFill>
                <a:latin typeface="Microsoft YaHei"/>
                <a:ea typeface="Microsoft YaHei"/>
                <a:cs typeface="Microsoft YaHei"/>
              </a:rPr>
              <a:t>让 AI 同步写文档</a:t>
            </a:r>
          </a:p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93A1B5"/>
                </a:solidFill>
                <a:latin typeface="Microsoft YaHei"/>
                <a:ea typeface="Microsoft YaHei"/>
                <a:cs typeface="Microsoft YaHei"/>
              </a:rPr>
              <a:t>README、这份 PPT 讲稿都让 AI 跟着代码一起更新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6355080"/>
            <a:ext cx="10058400" cy="320040"/>
          </a:xfrm>
          <a:prstGeom prst="rect">
            <a:avLst/>
          </a:prstGeom>
          <a:noFill/>
        </p:spPr>
        <p:txBody>
          <a:bodyPr wrap="square" anchor="t" lIns="76200" rIns="76200" tIns="25400" bIns="2540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93A1B5"/>
                </a:solidFill>
                <a:latin typeface="Microsoft YaHei"/>
                <a:ea typeface="Microsoft YaHei"/>
                <a:cs typeface="Microsoft YaHei"/>
              </a:rPr>
              <a:t>SmartCode Browser</a:t>
            </a:r>
            <a:r>
              <a:rPr sz="1000" b="0" i="0">
                <a:solidFill>
                  <a:srgbClr val="93A1B5"/>
                </a:solidFill>
                <a:latin typeface="Microsoft YaHei"/>
                <a:ea typeface="Microsoft YaHei"/>
                <a:cs typeface="Microsoft YaHei"/>
              </a:rPr>
              <a:t>   ·   一个用 Cursor「聊」出来的代码导航工具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241280" y="6355080"/>
            <a:ext cx="1188720" cy="320040"/>
          </a:xfrm>
          <a:prstGeom prst="rect">
            <a:avLst/>
          </a:prstGeom>
          <a:noFill/>
        </p:spPr>
        <p:txBody>
          <a:bodyPr wrap="square" anchor="t" lIns="76200" rIns="76200" tIns="25400" bIns="2540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93A1B5"/>
                </a:solidFill>
                <a:latin typeface="Microsoft YaHei"/>
                <a:ea typeface="Microsoft YaHei"/>
                <a:cs typeface="Microsoft YaHei"/>
              </a:rPr>
              <a:t>10 / 16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E1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66928"/>
            <a:ext cx="91440" cy="502920"/>
          </a:xfrm>
          <a:prstGeom prst="rect">
            <a:avLst/>
          </a:prstGeom>
          <a:solidFill>
            <a:srgbClr val="FFB1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457200"/>
            <a:ext cx="10607040" cy="1188720"/>
          </a:xfrm>
          <a:prstGeom prst="rect">
            <a:avLst/>
          </a:prstGeom>
          <a:noFill/>
        </p:spPr>
        <p:txBody>
          <a:bodyPr wrap="square" anchor="t" lIns="76200" rIns="762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 i="0">
                <a:solidFill>
                  <a:srgbClr val="FFB14D"/>
                </a:solidFill>
                <a:latin typeface="Microsoft YaHei"/>
                <a:ea typeface="Microsoft YaHei"/>
                <a:cs typeface="Microsoft YaHei"/>
              </a:rPr>
              <a:t>怎么造的 (4/4)</a:t>
            </a:r>
          </a:p>
          <a:p>
            <a:pPr algn="l">
              <a:spcAft>
                <a:spcPts val="0"/>
              </a:spcAft>
            </a:pPr>
            <a:r>
              <a:rPr sz="2900" b="1" i="0">
                <a:solidFill>
                  <a:srgbClr val="ECF1F8"/>
                </a:solidFill>
                <a:latin typeface="Microsoft YaHei"/>
                <a:ea typeface="Microsoft YaHei"/>
                <a:cs typeface="Microsoft YaHei"/>
              </a:rPr>
              <a:t>人和 AI 各干什么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1737360"/>
            <a:ext cx="4709160" cy="3383280"/>
          </a:xfrm>
          <a:prstGeom prst="roundRect">
            <a:avLst/>
          </a:prstGeom>
          <a:solidFill>
            <a:srgbClr val="172238"/>
          </a:solidFill>
          <a:ln w="19050">
            <a:solidFill>
              <a:srgbClr val="4D9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1920240"/>
            <a:ext cx="4206240" cy="3017520"/>
          </a:xfrm>
          <a:prstGeom prst="rect">
            <a:avLst/>
          </a:prstGeom>
          <a:noFill/>
        </p:spPr>
        <p:txBody>
          <a:bodyPr wrap="square" anchor="t" lIns="76200" rIns="76200" tIns="25400" bIns="25400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1" i="0">
                <a:solidFill>
                  <a:srgbClr val="4D9CFF"/>
                </a:solidFill>
                <a:latin typeface="Microsoft YaHei"/>
                <a:ea typeface="Microsoft YaHei"/>
                <a:cs typeface="Microsoft YaHei"/>
              </a:rPr>
              <a:t>人负责（少而关键）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4D9CFF"/>
                </a:solidFill>
                <a:latin typeface="Microsoft YaHei"/>
                <a:ea typeface="Microsoft YaHei"/>
                <a:cs typeface="Microsoft YaHei"/>
              </a:rPr>
              <a:t>·  </a:t>
            </a:r>
            <a:r>
              <a:rPr sz="1500" b="0" i="0">
                <a:solidFill>
                  <a:srgbClr val="ECF1F8"/>
                </a:solidFill>
                <a:latin typeface="Microsoft YaHei"/>
                <a:ea typeface="Microsoft YaHei"/>
                <a:cs typeface="Microsoft YaHei"/>
              </a:rPr>
              <a:t>定方向：解决哪个真实痛点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4D9CFF"/>
                </a:solidFill>
                <a:latin typeface="Microsoft YaHei"/>
                <a:ea typeface="Microsoft YaHei"/>
                <a:cs typeface="Microsoft YaHei"/>
              </a:rPr>
              <a:t>·  </a:t>
            </a:r>
            <a:r>
              <a:rPr sz="1500" b="0" i="0">
                <a:solidFill>
                  <a:srgbClr val="ECF1F8"/>
                </a:solidFill>
                <a:latin typeface="Microsoft YaHei"/>
                <a:ea typeface="Microsoft YaHei"/>
                <a:cs typeface="Microsoft YaHei"/>
              </a:rPr>
              <a:t>定边界：只读 / 语言无关 / 不做 IDE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4D9CFF"/>
                </a:solidFill>
                <a:latin typeface="Microsoft YaHei"/>
                <a:ea typeface="Microsoft YaHei"/>
                <a:cs typeface="Microsoft YaHei"/>
              </a:rPr>
              <a:t>·  </a:t>
            </a:r>
            <a:r>
              <a:rPr sz="1500" b="0" i="0">
                <a:solidFill>
                  <a:srgbClr val="ECF1F8"/>
                </a:solidFill>
                <a:latin typeface="Microsoft YaHei"/>
                <a:ea typeface="Microsoft YaHei"/>
                <a:cs typeface="Microsoft YaHei"/>
              </a:rPr>
              <a:t>定优先级：如「真实现优先于空桩」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4D9CFF"/>
                </a:solidFill>
                <a:latin typeface="Microsoft YaHei"/>
                <a:ea typeface="Microsoft YaHei"/>
                <a:cs typeface="Microsoft YaHei"/>
              </a:rPr>
              <a:t>·  </a:t>
            </a:r>
            <a:r>
              <a:rPr sz="1500" b="0" i="0">
                <a:solidFill>
                  <a:srgbClr val="ECF1F8"/>
                </a:solidFill>
                <a:latin typeface="Microsoft YaHei"/>
                <a:ea typeface="Microsoft YaHei"/>
                <a:cs typeface="Microsoft YaHei"/>
              </a:rPr>
              <a:t>验真场景：拿内核 / NEMU 实测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4D9CFF"/>
                </a:solidFill>
                <a:latin typeface="Microsoft YaHei"/>
                <a:ea typeface="Microsoft YaHei"/>
                <a:cs typeface="Microsoft YaHei"/>
              </a:rPr>
              <a:t>·  </a:t>
            </a:r>
            <a:r>
              <a:rPr sz="1500" b="0" i="0">
                <a:solidFill>
                  <a:srgbClr val="ECF1F8"/>
                </a:solidFill>
                <a:latin typeface="Microsoft YaHei"/>
                <a:ea typeface="Microsoft YaHei"/>
                <a:cs typeface="Microsoft YaHei"/>
              </a:rPr>
              <a:t>审结果、把关取舍与质量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52160" y="1737360"/>
            <a:ext cx="4709160" cy="3383280"/>
          </a:xfrm>
          <a:prstGeom prst="roundRect">
            <a:avLst/>
          </a:prstGeom>
          <a:solidFill>
            <a:srgbClr val="172238"/>
          </a:solidFill>
          <a:ln w="19050">
            <a:solidFill>
              <a:srgbClr val="32D6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26480" y="1920240"/>
            <a:ext cx="4206240" cy="3017520"/>
          </a:xfrm>
          <a:prstGeom prst="rect">
            <a:avLst/>
          </a:prstGeom>
          <a:noFill/>
        </p:spPr>
        <p:txBody>
          <a:bodyPr wrap="square" anchor="t" lIns="76200" rIns="76200" tIns="25400" bIns="25400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1" i="0">
                <a:solidFill>
                  <a:srgbClr val="32D6C0"/>
                </a:solidFill>
                <a:latin typeface="Microsoft YaHei"/>
                <a:ea typeface="Microsoft YaHei"/>
                <a:cs typeface="Microsoft YaHei"/>
              </a:rPr>
              <a:t>AI（Cursor）负责（重活）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32D6C0"/>
                </a:solidFill>
                <a:latin typeface="Microsoft YaHei"/>
                <a:ea typeface="Microsoft YaHei"/>
                <a:cs typeface="Microsoft YaHei"/>
              </a:rPr>
              <a:t>·  </a:t>
            </a:r>
            <a:r>
              <a:rPr sz="1500" b="0" i="0">
                <a:solidFill>
                  <a:srgbClr val="ECF1F8"/>
                </a:solidFill>
                <a:latin typeface="Microsoft YaHei"/>
                <a:ea typeface="Microsoft YaHei"/>
                <a:cs typeface="Microsoft YaHei"/>
              </a:rPr>
              <a:t>几乎全部实现：跨文件写 / 改代码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32D6C0"/>
                </a:solidFill>
                <a:latin typeface="Microsoft YaHei"/>
                <a:ea typeface="Microsoft YaHei"/>
                <a:cs typeface="Microsoft YaHei"/>
              </a:rPr>
              <a:t>·  </a:t>
            </a:r>
            <a:r>
              <a:rPr sz="1500" b="0" i="0">
                <a:solidFill>
                  <a:srgbClr val="ECF1F8"/>
                </a:solidFill>
                <a:latin typeface="Microsoft YaHei"/>
                <a:ea typeface="Microsoft YaHei"/>
                <a:cs typeface="Microsoft YaHei"/>
              </a:rPr>
              <a:t>脚手架：服务、前端、语言适配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32D6C0"/>
                </a:solidFill>
                <a:latin typeface="Microsoft YaHei"/>
                <a:ea typeface="Microsoft YaHei"/>
                <a:cs typeface="Microsoft YaHei"/>
              </a:rPr>
              <a:t>·  </a:t>
            </a:r>
            <a:r>
              <a:rPr sz="1500" b="0" i="0">
                <a:solidFill>
                  <a:srgbClr val="ECF1F8"/>
                </a:solidFill>
                <a:latin typeface="Microsoft YaHei"/>
                <a:ea typeface="Microsoft YaHei"/>
                <a:cs typeface="Microsoft YaHei"/>
              </a:rPr>
              <a:t>补盲区：宏、函数指针等边界 case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32D6C0"/>
                </a:solidFill>
                <a:latin typeface="Microsoft YaHei"/>
                <a:ea typeface="Microsoft YaHei"/>
                <a:cs typeface="Microsoft YaHei"/>
              </a:rPr>
              <a:t>·  </a:t>
            </a:r>
            <a:r>
              <a:rPr sz="1500" b="0" i="0">
                <a:solidFill>
                  <a:srgbClr val="ECF1F8"/>
                </a:solidFill>
                <a:latin typeface="Microsoft YaHei"/>
                <a:ea typeface="Microsoft YaHei"/>
                <a:cs typeface="Microsoft YaHei"/>
              </a:rPr>
              <a:t>重构、命名、写注释 / 文档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32D6C0"/>
                </a:solidFill>
                <a:latin typeface="Microsoft YaHei"/>
                <a:ea typeface="Microsoft YaHei"/>
                <a:cs typeface="Microsoft YaHei"/>
              </a:rPr>
              <a:t>·  </a:t>
            </a:r>
            <a:r>
              <a:rPr sz="1500" b="0" i="0">
                <a:solidFill>
                  <a:srgbClr val="ECF1F8"/>
                </a:solidFill>
                <a:latin typeface="Microsoft YaHei"/>
                <a:ea typeface="Microsoft YaHei"/>
                <a:cs typeface="Microsoft YaHei"/>
              </a:rPr>
              <a:t>解释报错、给修复方案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5349240"/>
            <a:ext cx="10058400" cy="548640"/>
          </a:xfrm>
          <a:prstGeom prst="rect">
            <a:avLst/>
          </a:prstGeom>
          <a:noFill/>
        </p:spPr>
        <p:txBody>
          <a:bodyPr wrap="square" anchor="t" lIns="76200" rIns="76200" tIns="25400" bIns="25400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ECF1F8"/>
                </a:solidFill>
                <a:latin typeface="Microsoft YaHei"/>
                <a:ea typeface="Microsoft YaHei"/>
                <a:cs typeface="Microsoft YaHei"/>
              </a:rPr>
              <a:t>AI 写了几乎所有代码，但「这东西该是什么样」始终是人在拿主意。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355080"/>
            <a:ext cx="10058400" cy="320040"/>
          </a:xfrm>
          <a:prstGeom prst="rect">
            <a:avLst/>
          </a:prstGeom>
          <a:noFill/>
        </p:spPr>
        <p:txBody>
          <a:bodyPr wrap="square" anchor="t" lIns="76200" rIns="76200" tIns="25400" bIns="2540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93A1B5"/>
                </a:solidFill>
                <a:latin typeface="Microsoft YaHei"/>
                <a:ea typeface="Microsoft YaHei"/>
                <a:cs typeface="Microsoft YaHei"/>
              </a:rPr>
              <a:t>SmartCode Browser</a:t>
            </a:r>
            <a:r>
              <a:rPr sz="1000" b="0" i="0">
                <a:solidFill>
                  <a:srgbClr val="93A1B5"/>
                </a:solidFill>
                <a:latin typeface="Microsoft YaHei"/>
                <a:ea typeface="Microsoft YaHei"/>
                <a:cs typeface="Microsoft YaHei"/>
              </a:rPr>
              <a:t>   ·   一个用 Cursor「聊」出来的代码导航工具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0" y="6355080"/>
            <a:ext cx="1188720" cy="320040"/>
          </a:xfrm>
          <a:prstGeom prst="rect">
            <a:avLst/>
          </a:prstGeom>
          <a:noFill/>
        </p:spPr>
        <p:txBody>
          <a:bodyPr wrap="square" anchor="t" lIns="76200" rIns="76200" tIns="25400" bIns="2540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93A1B5"/>
                </a:solidFill>
                <a:latin typeface="Microsoft YaHei"/>
                <a:ea typeface="Microsoft YaHei"/>
                <a:cs typeface="Microsoft YaHei"/>
              </a:rPr>
              <a:t>11 / 16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E1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66928"/>
            <a:ext cx="91440" cy="502920"/>
          </a:xfrm>
          <a:prstGeom prst="rect">
            <a:avLst/>
          </a:prstGeom>
          <a:solidFill>
            <a:srgbClr val="FFB1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457200"/>
            <a:ext cx="10607040" cy="1188720"/>
          </a:xfrm>
          <a:prstGeom prst="rect">
            <a:avLst/>
          </a:prstGeom>
          <a:noFill/>
        </p:spPr>
        <p:txBody>
          <a:bodyPr wrap="square" anchor="t" lIns="76200" rIns="762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 i="0">
                <a:solidFill>
                  <a:srgbClr val="FFB14D"/>
                </a:solidFill>
                <a:latin typeface="Microsoft YaHei"/>
                <a:ea typeface="Microsoft YaHei"/>
                <a:cs typeface="Microsoft YaHei"/>
              </a:rPr>
              <a:t>踩过的坑</a:t>
            </a:r>
          </a:p>
          <a:p>
            <a:pPr algn="l">
              <a:spcAft>
                <a:spcPts val="0"/>
              </a:spcAft>
            </a:pPr>
            <a:r>
              <a:rPr sz="2900" b="1" i="0">
                <a:solidFill>
                  <a:srgbClr val="ECF1F8"/>
                </a:solidFill>
                <a:latin typeface="Microsoft YaHei"/>
                <a:ea typeface="Microsoft YaHei"/>
                <a:cs typeface="Microsoft YaHei"/>
              </a:rPr>
              <a:t>用 AI 做这类东西，要注意什么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1645920"/>
            <a:ext cx="4754880" cy="1828800"/>
          </a:xfrm>
          <a:prstGeom prst="roundRect">
            <a:avLst/>
          </a:prstGeom>
          <a:solidFill>
            <a:srgbClr val="172238"/>
          </a:solidFill>
          <a:ln w="12700">
            <a:solidFill>
              <a:srgbClr val="2A3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68680" y="1645920"/>
            <a:ext cx="82296" cy="1828800"/>
          </a:xfrm>
          <a:prstGeom prst="rect">
            <a:avLst/>
          </a:prstGeom>
          <a:solidFill>
            <a:srgbClr val="4D9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24712" y="1773936"/>
            <a:ext cx="4297680" cy="457200"/>
          </a:xfrm>
          <a:prstGeom prst="rect">
            <a:avLst/>
          </a:prstGeom>
          <a:noFill/>
        </p:spPr>
        <p:txBody>
          <a:bodyPr wrap="square" anchor="t" lIns="76200" rIns="76200" tIns="25400" bIns="25400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4D9CFF"/>
                </a:solidFill>
                <a:latin typeface="Microsoft YaHei"/>
                <a:ea typeface="Microsoft YaHei"/>
                <a:cs typeface="Microsoft YaHei"/>
              </a:rPr>
              <a:t>①  </a:t>
            </a:r>
            <a:r>
              <a:rPr sz="1700" b="1" i="0">
                <a:solidFill>
                  <a:srgbClr val="ECF1F8"/>
                </a:solidFill>
                <a:latin typeface="Microsoft YaHei"/>
                <a:ea typeface="Microsoft YaHei"/>
                <a:cs typeface="Microsoft YaHei"/>
              </a:rPr>
              <a:t>方向与边界：人来守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" y="2249424"/>
            <a:ext cx="4297680" cy="1115568"/>
          </a:xfrm>
          <a:prstGeom prst="rect">
            <a:avLst/>
          </a:prstGeom>
          <a:noFill/>
        </p:spPr>
        <p:txBody>
          <a:bodyPr wrap="square" anchor="t" lIns="76200" rIns="76200" tIns="25400" bIns="25400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300" b="1" i="0">
                <a:solidFill>
                  <a:srgbClr val="4D9CFF"/>
                </a:solidFill>
                <a:latin typeface="Microsoft YaHei"/>
                <a:ea typeface="Microsoft YaHei"/>
                <a:cs typeface="Microsoft YaHei"/>
              </a:rPr>
              <a:t>·  </a:t>
            </a:r>
            <a:r>
              <a:rPr sz="1300" b="0" i="0">
                <a:solidFill>
                  <a:srgbClr val="93A1B5"/>
                </a:solidFill>
                <a:latin typeface="Microsoft YaHei"/>
                <a:ea typeface="Microsoft YaHei"/>
                <a:cs typeface="Microsoft YaHei"/>
              </a:rPr>
              <a:t>场景要具体（需求 ≈ 验收标准）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300" b="1" i="0">
                <a:solidFill>
                  <a:srgbClr val="4D9CFF"/>
                </a:solidFill>
                <a:latin typeface="Microsoft YaHei"/>
                <a:ea typeface="Microsoft YaHei"/>
                <a:cs typeface="Microsoft YaHei"/>
              </a:rPr>
              <a:t>·  </a:t>
            </a:r>
            <a:r>
              <a:rPr sz="1300" b="0" i="0">
                <a:solidFill>
                  <a:srgbClr val="93A1B5"/>
                </a:solidFill>
                <a:latin typeface="Microsoft YaHei"/>
                <a:ea typeface="Microsoft YaHei"/>
                <a:cs typeface="Microsoft YaHei"/>
              </a:rPr>
              <a:t>边界钉死，否则范围一路膨胀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300" b="1" i="0">
                <a:solidFill>
                  <a:srgbClr val="4D9CFF"/>
                </a:solidFill>
                <a:latin typeface="Microsoft YaHei"/>
                <a:ea typeface="Microsoft YaHei"/>
                <a:cs typeface="Microsoft YaHei"/>
              </a:rPr>
              <a:t>·  </a:t>
            </a:r>
            <a:r>
              <a:rPr sz="1300" b="0" i="0">
                <a:solidFill>
                  <a:srgbClr val="93A1B5"/>
                </a:solidFill>
                <a:latin typeface="Microsoft YaHei"/>
                <a:ea typeface="Microsoft YaHei"/>
                <a:cs typeface="Microsoft YaHei"/>
              </a:rPr>
              <a:t>优先级是人的判断，AI 给不了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06440" y="1645920"/>
            <a:ext cx="4754880" cy="1828800"/>
          </a:xfrm>
          <a:prstGeom prst="roundRect">
            <a:avLst/>
          </a:prstGeom>
          <a:solidFill>
            <a:srgbClr val="172238"/>
          </a:solidFill>
          <a:ln w="12700">
            <a:solidFill>
              <a:srgbClr val="2A3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806440" y="1645920"/>
            <a:ext cx="82296" cy="1828800"/>
          </a:xfrm>
          <a:prstGeom prst="rect">
            <a:avLst/>
          </a:prstGeom>
          <a:solidFill>
            <a:srgbClr val="FFB1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62472" y="1773936"/>
            <a:ext cx="4297680" cy="457200"/>
          </a:xfrm>
          <a:prstGeom prst="rect">
            <a:avLst/>
          </a:prstGeom>
          <a:noFill/>
        </p:spPr>
        <p:txBody>
          <a:bodyPr wrap="square" anchor="t" lIns="76200" rIns="76200" tIns="25400" bIns="25400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FFB14D"/>
                </a:solidFill>
                <a:latin typeface="Microsoft YaHei"/>
                <a:ea typeface="Microsoft YaHei"/>
                <a:cs typeface="Microsoft YaHei"/>
              </a:rPr>
              <a:t>②  </a:t>
            </a:r>
            <a:r>
              <a:rPr sz="1700" b="1" i="0">
                <a:solidFill>
                  <a:srgbClr val="ECF1F8"/>
                </a:solidFill>
                <a:latin typeface="Microsoft YaHei"/>
                <a:ea typeface="Microsoft YaHei"/>
                <a:cs typeface="Microsoft YaHei"/>
              </a:rPr>
              <a:t>质量：别信「看起来对」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62472" y="2249424"/>
            <a:ext cx="4297680" cy="1115568"/>
          </a:xfrm>
          <a:prstGeom prst="rect">
            <a:avLst/>
          </a:prstGeom>
          <a:noFill/>
        </p:spPr>
        <p:txBody>
          <a:bodyPr wrap="square" anchor="t" lIns="76200" rIns="76200" tIns="25400" bIns="25400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300" b="1" i="0">
                <a:solidFill>
                  <a:srgbClr val="FFB14D"/>
                </a:solidFill>
                <a:latin typeface="Microsoft YaHei"/>
                <a:ea typeface="Microsoft YaHei"/>
                <a:cs typeface="Microsoft YaHei"/>
              </a:rPr>
              <a:t>·  </a:t>
            </a:r>
            <a:r>
              <a:rPr sz="1300" b="0" i="0">
                <a:solidFill>
                  <a:srgbClr val="93A1B5"/>
                </a:solidFill>
                <a:latin typeface="Microsoft YaHei"/>
                <a:ea typeface="Microsoft YaHei"/>
                <a:cs typeface="Microsoft YaHei"/>
              </a:rPr>
              <a:t>每次都审 diff，尤其跨文件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300" b="1" i="0">
                <a:solidFill>
                  <a:srgbClr val="FFB14D"/>
                </a:solidFill>
                <a:latin typeface="Microsoft YaHei"/>
                <a:ea typeface="Microsoft YaHei"/>
                <a:cs typeface="Microsoft YaHei"/>
              </a:rPr>
              <a:t>·  </a:t>
            </a:r>
            <a:r>
              <a:rPr sz="1300" b="0" i="0">
                <a:solidFill>
                  <a:srgbClr val="93A1B5"/>
                </a:solidFill>
                <a:latin typeface="Microsoft YaHei"/>
                <a:ea typeface="Microsoft YaHei"/>
                <a:cs typeface="Microsoft YaHei"/>
              </a:rPr>
              <a:t>小步提交 + 拿真实数据验证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300" b="1" i="0">
                <a:solidFill>
                  <a:srgbClr val="FFB14D"/>
                </a:solidFill>
                <a:latin typeface="Microsoft YaHei"/>
                <a:ea typeface="Microsoft YaHei"/>
                <a:cs typeface="Microsoft YaHei"/>
              </a:rPr>
              <a:t>·  </a:t>
            </a:r>
            <a:r>
              <a:rPr sz="1300" b="0" i="0">
                <a:solidFill>
                  <a:srgbClr val="93A1B5"/>
                </a:solidFill>
                <a:latin typeface="Microsoft YaHei"/>
                <a:ea typeface="Microsoft YaHei"/>
                <a:cs typeface="Microsoft YaHei"/>
              </a:rPr>
              <a:t>防幻觉：编造的 API 去查文档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" y="3639312"/>
            <a:ext cx="4754880" cy="1828800"/>
          </a:xfrm>
          <a:prstGeom prst="roundRect">
            <a:avLst/>
          </a:prstGeom>
          <a:solidFill>
            <a:srgbClr val="172238"/>
          </a:solidFill>
          <a:ln w="12700">
            <a:solidFill>
              <a:srgbClr val="2A3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68680" y="3639312"/>
            <a:ext cx="82296" cy="1828800"/>
          </a:xfrm>
          <a:prstGeom prst="rect">
            <a:avLst/>
          </a:prstGeom>
          <a:solidFill>
            <a:srgbClr val="32D6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24712" y="3767328"/>
            <a:ext cx="4297680" cy="457200"/>
          </a:xfrm>
          <a:prstGeom prst="rect">
            <a:avLst/>
          </a:prstGeom>
          <a:noFill/>
        </p:spPr>
        <p:txBody>
          <a:bodyPr wrap="square" anchor="t" lIns="76200" rIns="76200" tIns="25400" bIns="25400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32D6C0"/>
                </a:solidFill>
                <a:latin typeface="Microsoft YaHei"/>
                <a:ea typeface="Microsoft YaHei"/>
                <a:cs typeface="Microsoft YaHei"/>
              </a:rPr>
              <a:t>③  </a:t>
            </a:r>
            <a:r>
              <a:rPr sz="1700" b="1" i="0">
                <a:solidFill>
                  <a:srgbClr val="ECF1F8"/>
                </a:solidFill>
                <a:latin typeface="Microsoft YaHei"/>
                <a:ea typeface="Microsoft YaHei"/>
                <a:cs typeface="Microsoft YaHei"/>
              </a:rPr>
              <a:t>上下文：喂得准、会漂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4712" y="4242816"/>
            <a:ext cx="4297680" cy="1115568"/>
          </a:xfrm>
          <a:prstGeom prst="rect">
            <a:avLst/>
          </a:prstGeom>
          <a:noFill/>
        </p:spPr>
        <p:txBody>
          <a:bodyPr wrap="square" anchor="t" lIns="76200" rIns="76200" tIns="25400" bIns="25400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300" b="1" i="0">
                <a:solidFill>
                  <a:srgbClr val="32D6C0"/>
                </a:solidFill>
                <a:latin typeface="Microsoft YaHei"/>
                <a:ea typeface="Microsoft YaHei"/>
                <a:cs typeface="Microsoft YaHei"/>
              </a:rPr>
              <a:t>·  </a:t>
            </a:r>
            <a:r>
              <a:rPr sz="1300" b="0" i="0">
                <a:solidFill>
                  <a:srgbClr val="93A1B5"/>
                </a:solidFill>
                <a:latin typeface="Microsoft YaHei"/>
                <a:ea typeface="Microsoft YaHei"/>
                <a:cs typeface="Microsoft YaHei"/>
              </a:rPr>
              <a:t>@文件 / @符号 精确给上下文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300" b="1" i="0">
                <a:solidFill>
                  <a:srgbClr val="32D6C0"/>
                </a:solidFill>
                <a:latin typeface="Microsoft YaHei"/>
                <a:ea typeface="Microsoft YaHei"/>
                <a:cs typeface="Microsoft YaHei"/>
              </a:rPr>
              <a:t>·  </a:t>
            </a:r>
            <a:r>
              <a:rPr sz="1300" b="0" i="0">
                <a:solidFill>
                  <a:srgbClr val="93A1B5"/>
                </a:solidFill>
                <a:latin typeface="Microsoft YaHei"/>
                <a:ea typeface="Microsoft YaHei"/>
                <a:cs typeface="Microsoft YaHei"/>
              </a:rPr>
              <a:t>长对话会忘约定，适时开新会话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300" b="1" i="0">
                <a:solidFill>
                  <a:srgbClr val="32D6C0"/>
                </a:solidFill>
                <a:latin typeface="Microsoft YaHei"/>
                <a:ea typeface="Microsoft YaHei"/>
                <a:cs typeface="Microsoft YaHei"/>
              </a:rPr>
              <a:t>·  </a:t>
            </a:r>
            <a:r>
              <a:rPr sz="1300" b="0" i="0">
                <a:solidFill>
                  <a:srgbClr val="93A1B5"/>
                </a:solidFill>
                <a:latin typeface="Microsoft YaHei"/>
                <a:ea typeface="Microsoft YaHei"/>
                <a:cs typeface="Microsoft YaHei"/>
              </a:rPr>
              <a:t>把边界 / 风格固化进规则文件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806440" y="3639312"/>
            <a:ext cx="4754880" cy="1828800"/>
          </a:xfrm>
          <a:prstGeom prst="roundRect">
            <a:avLst/>
          </a:prstGeom>
          <a:solidFill>
            <a:srgbClr val="172238"/>
          </a:solidFill>
          <a:ln w="12700">
            <a:solidFill>
              <a:srgbClr val="2A3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806440" y="3639312"/>
            <a:ext cx="82296" cy="1828800"/>
          </a:xfrm>
          <a:prstGeom prst="rect">
            <a:avLst/>
          </a:prstGeom>
          <a:solidFill>
            <a:srgbClr val="FFB1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62472" y="3767328"/>
            <a:ext cx="4297680" cy="457200"/>
          </a:xfrm>
          <a:prstGeom prst="rect">
            <a:avLst/>
          </a:prstGeom>
          <a:noFill/>
        </p:spPr>
        <p:txBody>
          <a:bodyPr wrap="square" anchor="t" lIns="76200" rIns="76200" tIns="25400" bIns="25400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FFB14D"/>
                </a:solidFill>
                <a:latin typeface="Microsoft YaHei"/>
                <a:ea typeface="Microsoft YaHei"/>
                <a:cs typeface="Microsoft YaHei"/>
              </a:rPr>
              <a:t>④  </a:t>
            </a:r>
            <a:r>
              <a:rPr sz="1700" b="1" i="0">
                <a:solidFill>
                  <a:srgbClr val="ECF1F8"/>
                </a:solidFill>
                <a:latin typeface="Microsoft YaHei"/>
                <a:ea typeface="Microsoft YaHei"/>
                <a:cs typeface="Microsoft YaHei"/>
              </a:rPr>
              <a:t>安全与合规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62472" y="4242816"/>
            <a:ext cx="4297680" cy="1115568"/>
          </a:xfrm>
          <a:prstGeom prst="rect">
            <a:avLst/>
          </a:prstGeom>
          <a:noFill/>
        </p:spPr>
        <p:txBody>
          <a:bodyPr wrap="square" anchor="t" lIns="76200" rIns="76200" tIns="25400" bIns="25400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300" b="1" i="0">
                <a:solidFill>
                  <a:srgbClr val="FFB14D"/>
                </a:solidFill>
                <a:latin typeface="Microsoft YaHei"/>
                <a:ea typeface="Microsoft YaHei"/>
                <a:cs typeface="Microsoft YaHei"/>
              </a:rPr>
              <a:t>·  </a:t>
            </a:r>
            <a:r>
              <a:rPr sz="1300" b="0" i="0">
                <a:solidFill>
                  <a:srgbClr val="93A1B5"/>
                </a:solidFill>
                <a:latin typeface="Microsoft YaHei"/>
                <a:ea typeface="Microsoft YaHei"/>
                <a:cs typeface="Microsoft YaHei"/>
              </a:rPr>
              <a:t>别把密钥 / 内部源码无意识喂出去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300" b="1" i="0">
                <a:solidFill>
                  <a:srgbClr val="FFB14D"/>
                </a:solidFill>
                <a:latin typeface="Microsoft YaHei"/>
                <a:ea typeface="Microsoft YaHei"/>
                <a:cs typeface="Microsoft YaHei"/>
              </a:rPr>
              <a:t>·  </a:t>
            </a:r>
            <a:r>
              <a:rPr sz="1300" b="0" i="0">
                <a:solidFill>
                  <a:srgbClr val="93A1B5"/>
                </a:solidFill>
                <a:latin typeface="Microsoft YaHei"/>
                <a:ea typeface="Microsoft YaHei"/>
                <a:cs typeface="Microsoft YaHei"/>
              </a:rPr>
              <a:t>生成代码可能撞开源，关键处留意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300" b="1" i="0">
                <a:solidFill>
                  <a:srgbClr val="FFB14D"/>
                </a:solidFill>
                <a:latin typeface="Microsoft YaHei"/>
                <a:ea typeface="Microsoft YaHei"/>
                <a:cs typeface="Microsoft YaHei"/>
              </a:rPr>
              <a:t>·  </a:t>
            </a:r>
            <a:r>
              <a:rPr sz="1300" b="0" i="0">
                <a:solidFill>
                  <a:srgbClr val="93A1B5"/>
                </a:solidFill>
                <a:latin typeface="Microsoft YaHei"/>
                <a:ea typeface="Microsoft YaHei"/>
                <a:cs typeface="Microsoft YaHei"/>
              </a:rPr>
              <a:t>危险操作（删库 / 强推）人来确认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5486400"/>
            <a:ext cx="10058400" cy="457200"/>
          </a:xfrm>
          <a:prstGeom prst="rect">
            <a:avLst/>
          </a:prstGeom>
          <a:noFill/>
        </p:spPr>
        <p:txBody>
          <a:bodyPr wrap="square" anchor="t" lIns="76200" rIns="76200" tIns="25400" bIns="2540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1">
                <a:solidFill>
                  <a:srgbClr val="93A1B5"/>
                </a:solidFill>
                <a:latin typeface="Microsoft YaHei"/>
                <a:ea typeface="Microsoft YaHei"/>
                <a:cs typeface="Microsoft YaHei"/>
              </a:rPr>
              <a:t>一句话：AI 是放大器 —— 放大你的判断力，也放大你的疏忽。坦诚讲局限，反而最加分。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6355080"/>
            <a:ext cx="10058400" cy="320040"/>
          </a:xfrm>
          <a:prstGeom prst="rect">
            <a:avLst/>
          </a:prstGeom>
          <a:noFill/>
        </p:spPr>
        <p:txBody>
          <a:bodyPr wrap="square" anchor="t" lIns="76200" rIns="76200" tIns="25400" bIns="2540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93A1B5"/>
                </a:solidFill>
                <a:latin typeface="Microsoft YaHei"/>
                <a:ea typeface="Microsoft YaHei"/>
                <a:cs typeface="Microsoft YaHei"/>
              </a:rPr>
              <a:t>SmartCode Browser</a:t>
            </a:r>
            <a:r>
              <a:rPr sz="1000" b="0" i="0">
                <a:solidFill>
                  <a:srgbClr val="93A1B5"/>
                </a:solidFill>
                <a:latin typeface="Microsoft YaHei"/>
                <a:ea typeface="Microsoft YaHei"/>
                <a:cs typeface="Microsoft YaHei"/>
              </a:rPr>
              <a:t>   ·   一个用 Cursor「聊」出来的代码导航工具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41280" y="6355080"/>
            <a:ext cx="1188720" cy="320040"/>
          </a:xfrm>
          <a:prstGeom prst="rect">
            <a:avLst/>
          </a:prstGeom>
          <a:noFill/>
        </p:spPr>
        <p:txBody>
          <a:bodyPr wrap="square" anchor="t" lIns="76200" rIns="76200" tIns="25400" bIns="2540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93A1B5"/>
                </a:solidFill>
                <a:latin typeface="Microsoft YaHei"/>
                <a:ea typeface="Microsoft YaHei"/>
                <a:cs typeface="Microsoft YaHei"/>
              </a:rPr>
              <a:t>12 / 16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E1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66928"/>
            <a:ext cx="91440" cy="502920"/>
          </a:xfrm>
          <a:prstGeom prst="rect">
            <a:avLst/>
          </a:prstGeom>
          <a:solidFill>
            <a:srgbClr val="4D9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457200"/>
            <a:ext cx="10607040" cy="1188720"/>
          </a:xfrm>
          <a:prstGeom prst="rect">
            <a:avLst/>
          </a:prstGeom>
          <a:noFill/>
        </p:spPr>
        <p:txBody>
          <a:bodyPr wrap="square" anchor="t" lIns="76200" rIns="762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 i="0">
                <a:solidFill>
                  <a:srgbClr val="4D9CFF"/>
                </a:solidFill>
                <a:latin typeface="Microsoft YaHei"/>
                <a:ea typeface="Microsoft YaHei"/>
                <a:cs typeface="Microsoft YaHei"/>
              </a:rPr>
              <a:t>这不是玩具</a:t>
            </a:r>
          </a:p>
          <a:p>
            <a:pPr algn="l">
              <a:spcAft>
                <a:spcPts val="0"/>
              </a:spcAft>
            </a:pPr>
            <a:r>
              <a:rPr sz="2900" b="1" i="0">
                <a:solidFill>
                  <a:srgbClr val="ECF1F8"/>
                </a:solidFill>
                <a:latin typeface="Microsoft YaHei"/>
                <a:ea typeface="Microsoft YaHei"/>
                <a:cs typeface="Microsoft YaHei"/>
              </a:rPr>
              <a:t>几个为真实工程做的取舍（AI 实现，人来定）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1691640"/>
            <a:ext cx="9692640" cy="1280160"/>
          </a:xfrm>
          <a:prstGeom prst="roundRect">
            <a:avLst/>
          </a:prstGeom>
          <a:solidFill>
            <a:srgbClr val="172238"/>
          </a:solidFill>
          <a:ln w="12700">
            <a:solidFill>
              <a:srgbClr val="2A3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68680" y="1691640"/>
            <a:ext cx="91440" cy="1280160"/>
          </a:xfrm>
          <a:prstGeom prst="rect">
            <a:avLst/>
          </a:prstGeom>
          <a:solidFill>
            <a:srgbClr val="4D9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34440" y="1856232"/>
            <a:ext cx="9144000" cy="1005840"/>
          </a:xfrm>
          <a:prstGeom prst="rect">
            <a:avLst/>
          </a:prstGeom>
          <a:noFill/>
        </p:spPr>
        <p:txBody>
          <a:bodyPr wrap="square" anchor="ctr" lIns="76200" rIns="76200" tIns="25400" bIns="25400">
            <a:spAutoFit/>
          </a:bodyPr>
          <a:lstStyle/>
          <a:p>
            <a:pPr algn="l">
              <a:spcAft>
                <a:spcPts val="500"/>
              </a:spcAft>
            </a:pPr>
            <a:r>
              <a:rPr sz="1800" b="1" i="0">
                <a:solidFill>
                  <a:srgbClr val="4D9CFF"/>
                </a:solidFill>
                <a:latin typeface="Microsoft YaHei"/>
                <a:ea typeface="Microsoft YaHei"/>
                <a:cs typeface="Microsoft YaHei"/>
              </a:rPr>
              <a:t>多 arch / 多 ISA 消歧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0" i="0">
                <a:solidFill>
                  <a:srgbClr val="93A1B5"/>
                </a:solidFill>
                <a:latin typeface="Microsoft YaHei"/>
                <a:ea typeface="Microsoft YaHei"/>
                <a:cs typeface="Microsoft YaHei"/>
              </a:rPr>
              <a:t>同名实现 x86 / riscv / mips 各一份；读 compile_commands.json 判断「这次实际编译了哪份」，稳定命中真实现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3108960"/>
            <a:ext cx="9692640" cy="1280160"/>
          </a:xfrm>
          <a:prstGeom prst="roundRect">
            <a:avLst/>
          </a:prstGeom>
          <a:solidFill>
            <a:srgbClr val="172238"/>
          </a:solidFill>
          <a:ln w="12700">
            <a:solidFill>
              <a:srgbClr val="2A3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68680" y="3108960"/>
            <a:ext cx="91440" cy="1280160"/>
          </a:xfrm>
          <a:prstGeom prst="rect">
            <a:avLst/>
          </a:prstGeom>
          <a:solidFill>
            <a:srgbClr val="32D6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34440" y="3273552"/>
            <a:ext cx="9144000" cy="1005840"/>
          </a:xfrm>
          <a:prstGeom prst="rect">
            <a:avLst/>
          </a:prstGeom>
          <a:noFill/>
        </p:spPr>
        <p:txBody>
          <a:bodyPr wrap="square" anchor="ctr" lIns="76200" rIns="76200" tIns="25400" bIns="25400">
            <a:spAutoFit/>
          </a:bodyPr>
          <a:lstStyle/>
          <a:p>
            <a:pPr algn="l">
              <a:spcAft>
                <a:spcPts val="500"/>
              </a:spcAft>
            </a:pPr>
            <a:r>
              <a:rPr sz="1800" b="1" i="0">
                <a:solidFill>
                  <a:srgbClr val="32D6C0"/>
                </a:solidFill>
                <a:latin typeface="Microsoft YaHei"/>
                <a:ea typeface="Microsoft YaHei"/>
                <a:cs typeface="Microsoft YaHei"/>
              </a:rPr>
              <a:t>真实现优先、空桩靠后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0" i="0">
                <a:solidFill>
                  <a:srgbClr val="93A1B5"/>
                </a:solidFill>
                <a:latin typeface="Microsoft YaHei"/>
                <a:ea typeface="Microsoft YaHei"/>
                <a:cs typeface="Microsoft YaHei"/>
              </a:rPr>
              <a:t>大库里同名 / 弱符号 / #ifdef 桩满天飞 —— 候选排序体现对真实工程的理解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4526280"/>
            <a:ext cx="9692640" cy="1280160"/>
          </a:xfrm>
          <a:prstGeom prst="roundRect">
            <a:avLst/>
          </a:prstGeom>
          <a:solidFill>
            <a:srgbClr val="172238"/>
          </a:solidFill>
          <a:ln w="12700">
            <a:solidFill>
              <a:srgbClr val="2A3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68680" y="4526280"/>
            <a:ext cx="91440" cy="1280160"/>
          </a:xfrm>
          <a:prstGeom prst="rect">
            <a:avLst/>
          </a:prstGeom>
          <a:solidFill>
            <a:srgbClr val="FFB1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34440" y="4690872"/>
            <a:ext cx="9144000" cy="1005840"/>
          </a:xfrm>
          <a:prstGeom prst="rect">
            <a:avLst/>
          </a:prstGeom>
          <a:noFill/>
        </p:spPr>
        <p:txBody>
          <a:bodyPr wrap="square" anchor="ctr" lIns="76200" rIns="76200" tIns="25400" bIns="25400">
            <a:spAutoFit/>
          </a:bodyPr>
          <a:lstStyle/>
          <a:p>
            <a:pPr algn="l">
              <a:spcAft>
                <a:spcPts val="500"/>
              </a:spcAft>
            </a:pPr>
            <a:r>
              <a:rPr sz="1800" b="1" i="0">
                <a:solidFill>
                  <a:srgbClr val="FFB14D"/>
                </a:solidFill>
                <a:latin typeface="Microsoft YaHei"/>
                <a:ea typeface="Microsoft YaHei"/>
                <a:cs typeface="Microsoft YaHei"/>
              </a:rPr>
              <a:t>诚实优于炫技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0" i="0">
                <a:solidFill>
                  <a:srgbClr val="93A1B5"/>
                </a:solidFill>
                <a:latin typeface="Microsoft YaHei"/>
                <a:ea typeface="Microsoft YaHei"/>
                <a:cs typeface="Microsoft YaHei"/>
              </a:rPr>
              <a:t>静态解析有盲区，解析不了就明确标注、绝不假装能跳；grep 兜底保证至少搜得到名字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355080"/>
            <a:ext cx="10058400" cy="320040"/>
          </a:xfrm>
          <a:prstGeom prst="rect">
            <a:avLst/>
          </a:prstGeom>
          <a:noFill/>
        </p:spPr>
        <p:txBody>
          <a:bodyPr wrap="square" anchor="t" lIns="76200" rIns="76200" tIns="25400" bIns="2540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93A1B5"/>
                </a:solidFill>
                <a:latin typeface="Microsoft YaHei"/>
                <a:ea typeface="Microsoft YaHei"/>
                <a:cs typeface="Microsoft YaHei"/>
              </a:rPr>
              <a:t>SmartCode Browser</a:t>
            </a:r>
            <a:r>
              <a:rPr sz="1000" b="0" i="0">
                <a:solidFill>
                  <a:srgbClr val="93A1B5"/>
                </a:solidFill>
                <a:latin typeface="Microsoft YaHei"/>
                <a:ea typeface="Microsoft YaHei"/>
                <a:cs typeface="Microsoft YaHei"/>
              </a:rPr>
              <a:t>   ·   一个用 Cursor「聊」出来的代码导航工具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41280" y="6355080"/>
            <a:ext cx="1188720" cy="320040"/>
          </a:xfrm>
          <a:prstGeom prst="rect">
            <a:avLst/>
          </a:prstGeom>
          <a:noFill/>
        </p:spPr>
        <p:txBody>
          <a:bodyPr wrap="square" anchor="t" lIns="76200" rIns="76200" tIns="25400" bIns="2540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93A1B5"/>
                </a:solidFill>
                <a:latin typeface="Microsoft YaHei"/>
                <a:ea typeface="Microsoft YaHei"/>
                <a:cs typeface="Microsoft YaHei"/>
              </a:rPr>
              <a:t>13 / 16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E1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66928"/>
            <a:ext cx="91440" cy="502920"/>
          </a:xfrm>
          <a:prstGeom prst="rect">
            <a:avLst/>
          </a:prstGeom>
          <a:solidFill>
            <a:srgbClr val="32D6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457200"/>
            <a:ext cx="10607040" cy="1188720"/>
          </a:xfrm>
          <a:prstGeom prst="rect">
            <a:avLst/>
          </a:prstGeom>
          <a:noFill/>
        </p:spPr>
        <p:txBody>
          <a:bodyPr wrap="square" anchor="t" lIns="76200" rIns="762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 i="0">
                <a:solidFill>
                  <a:srgbClr val="32D6C0"/>
                </a:solidFill>
                <a:latin typeface="Microsoft YaHei"/>
                <a:ea typeface="Microsoft YaHei"/>
                <a:cs typeface="Microsoft YaHei"/>
              </a:rPr>
              <a:t>往哪走 · ROADMAP</a:t>
            </a:r>
          </a:p>
          <a:p>
            <a:pPr algn="l">
              <a:spcAft>
                <a:spcPts val="0"/>
              </a:spcAft>
            </a:pPr>
            <a:r>
              <a:rPr sz="2900" b="1" i="0">
                <a:solidFill>
                  <a:srgbClr val="ECF1F8"/>
                </a:solidFill>
                <a:latin typeface="Microsoft YaHei"/>
                <a:ea typeface="Microsoft YaHei"/>
                <a:cs typeface="Microsoft YaHei"/>
              </a:rPr>
              <a:t>后面打算做什么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1691640"/>
            <a:ext cx="3291840" cy="3931920"/>
          </a:xfrm>
          <a:prstGeom prst="roundRect">
            <a:avLst/>
          </a:prstGeom>
          <a:solidFill>
            <a:srgbClr val="172238"/>
          </a:solidFill>
          <a:ln w="12700">
            <a:solidFill>
              <a:srgbClr val="2A3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68680" y="1691640"/>
            <a:ext cx="3291840" cy="640080"/>
          </a:xfrm>
          <a:prstGeom prst="roundRect">
            <a:avLst/>
          </a:prstGeom>
          <a:solidFill>
            <a:srgbClr val="4D9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68680" y="2011680"/>
            <a:ext cx="3291840" cy="320040"/>
          </a:xfrm>
          <a:prstGeom prst="rect">
            <a:avLst/>
          </a:prstGeom>
          <a:solidFill>
            <a:srgbClr val="4D9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764792"/>
            <a:ext cx="3291840" cy="548640"/>
          </a:xfrm>
          <a:prstGeom prst="rect">
            <a:avLst/>
          </a:prstGeom>
          <a:noFill/>
        </p:spPr>
        <p:txBody>
          <a:bodyPr wrap="square" anchor="ctr" lIns="76200" rIns="76200" tIns="25400" bIns="25400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0E1627"/>
                </a:solidFill>
                <a:latin typeface="Microsoft YaHei"/>
                <a:ea typeface="Microsoft YaHei"/>
                <a:cs typeface="Microsoft YaHei"/>
              </a:rPr>
              <a:t>近期 · Now/Next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2560320"/>
            <a:ext cx="2743200" cy="2926080"/>
          </a:xfrm>
          <a:prstGeom prst="rect">
            <a:avLst/>
          </a:prstGeom>
          <a:noFill/>
        </p:spPr>
        <p:txBody>
          <a:bodyPr wrap="square" anchor="t" lIns="76200" rIns="76200" tIns="25400" bIns="25400">
            <a:spAutoFit/>
          </a:bodyPr>
          <a:lstStyle/>
          <a:p>
            <a:pPr>
              <a:lnSpc>
                <a:spcPct val="105000"/>
              </a:lnSpc>
              <a:spcAft>
                <a:spcPts val="1400"/>
              </a:spcAft>
            </a:pPr>
            <a:r>
              <a:rPr sz="1450" b="1" i="0">
                <a:solidFill>
                  <a:srgbClr val="4D9CFF"/>
                </a:solidFill>
                <a:latin typeface="Microsoft YaHei"/>
                <a:ea typeface="Microsoft YaHei"/>
                <a:cs typeface="Microsoft YaHei"/>
              </a:rPr>
              <a:t>▸  </a:t>
            </a:r>
            <a:r>
              <a:rPr sz="1450" b="0" i="0">
                <a:solidFill>
                  <a:srgbClr val="ECF1F8"/>
                </a:solidFill>
                <a:latin typeface="Microsoft YaHei"/>
                <a:ea typeface="Microsoft YaHei"/>
                <a:cs typeface="Microsoft YaHei"/>
              </a:rPr>
              <a:t>难解析场景增强：函数指针 / 表驱动 / 宏 跳得更准</a:t>
            </a:r>
          </a:p>
          <a:p>
            <a:pPr>
              <a:lnSpc>
                <a:spcPct val="105000"/>
              </a:lnSpc>
              <a:spcAft>
                <a:spcPts val="1400"/>
              </a:spcAft>
            </a:pPr>
            <a:r>
              <a:rPr sz="1450" b="1" i="0">
                <a:solidFill>
                  <a:srgbClr val="4D9CFF"/>
                </a:solidFill>
                <a:latin typeface="Microsoft YaHei"/>
                <a:ea typeface="Microsoft YaHei"/>
                <a:cs typeface="Microsoft YaHei"/>
              </a:rPr>
              <a:t>▸  </a:t>
            </a:r>
            <a:r>
              <a:rPr sz="1450" b="0" i="0">
                <a:solidFill>
                  <a:srgbClr val="ECF1F8"/>
                </a:solidFill>
                <a:latin typeface="Microsoft YaHei"/>
                <a:ea typeface="Microsoft YaHei"/>
                <a:cs typeface="Microsoft YaHei"/>
              </a:rPr>
              <a:t>全局调用图视图：不止级联，整张图一眼看全</a:t>
            </a:r>
          </a:p>
          <a:p>
            <a:pPr>
              <a:lnSpc>
                <a:spcPct val="105000"/>
              </a:lnSpc>
              <a:spcAft>
                <a:spcPts val="1400"/>
              </a:spcAft>
            </a:pPr>
            <a:r>
              <a:rPr sz="1450" b="1" i="0">
                <a:solidFill>
                  <a:srgbClr val="4D9CFF"/>
                </a:solidFill>
                <a:latin typeface="Microsoft YaHei"/>
                <a:ea typeface="Microsoft YaHei"/>
                <a:cs typeface="Microsoft YaHei"/>
              </a:rPr>
              <a:t>▸  </a:t>
            </a:r>
            <a:r>
              <a:rPr sz="1450" b="0" i="0">
                <a:solidFill>
                  <a:srgbClr val="ECF1F8"/>
                </a:solidFill>
                <a:latin typeface="Microsoft YaHei"/>
                <a:ea typeface="Microsoft YaHei"/>
                <a:cs typeface="Microsoft YaHei"/>
              </a:rPr>
              <a:t>调用树导出 / 分享链接：把路径发给同事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691640"/>
            <a:ext cx="3291840" cy="3931920"/>
          </a:xfrm>
          <a:prstGeom prst="roundRect">
            <a:avLst/>
          </a:prstGeom>
          <a:solidFill>
            <a:srgbClr val="172238"/>
          </a:solidFill>
          <a:ln w="12700">
            <a:solidFill>
              <a:srgbClr val="2A3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389120" y="1691640"/>
            <a:ext cx="3291840" cy="640080"/>
          </a:xfrm>
          <a:prstGeom prst="roundRect">
            <a:avLst/>
          </a:prstGeom>
          <a:solidFill>
            <a:srgbClr val="32D6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9120" y="2011680"/>
            <a:ext cx="3291840" cy="320040"/>
          </a:xfrm>
          <a:prstGeom prst="rect">
            <a:avLst/>
          </a:prstGeom>
          <a:solidFill>
            <a:srgbClr val="32D6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89120" y="1764792"/>
            <a:ext cx="3291840" cy="548640"/>
          </a:xfrm>
          <a:prstGeom prst="rect">
            <a:avLst/>
          </a:prstGeom>
          <a:noFill/>
        </p:spPr>
        <p:txBody>
          <a:bodyPr wrap="square" anchor="ctr" lIns="76200" rIns="76200" tIns="25400" bIns="25400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0E1627"/>
                </a:solidFill>
                <a:latin typeface="Microsoft YaHei"/>
                <a:ea typeface="Microsoft YaHei"/>
                <a:cs typeface="Microsoft YaHei"/>
              </a:rPr>
              <a:t>中期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2560320"/>
            <a:ext cx="2743200" cy="2926080"/>
          </a:xfrm>
          <a:prstGeom prst="rect">
            <a:avLst/>
          </a:prstGeom>
          <a:noFill/>
        </p:spPr>
        <p:txBody>
          <a:bodyPr wrap="square" anchor="t" lIns="76200" rIns="76200" tIns="25400" bIns="25400">
            <a:spAutoFit/>
          </a:bodyPr>
          <a:lstStyle/>
          <a:p>
            <a:pPr>
              <a:lnSpc>
                <a:spcPct val="105000"/>
              </a:lnSpc>
              <a:spcAft>
                <a:spcPts val="1400"/>
              </a:spcAft>
            </a:pPr>
            <a:r>
              <a:rPr sz="1450" b="1" i="0">
                <a:solidFill>
                  <a:srgbClr val="32D6C0"/>
                </a:solidFill>
                <a:latin typeface="Microsoft YaHei"/>
                <a:ea typeface="Microsoft YaHei"/>
                <a:cs typeface="Microsoft YaHei"/>
              </a:rPr>
              <a:t>▸  </a:t>
            </a:r>
            <a:r>
              <a:rPr sz="1450" b="0" i="0">
                <a:solidFill>
                  <a:srgbClr val="ECF1F8"/>
                </a:solidFill>
                <a:latin typeface="Microsoft YaHei"/>
                <a:ea typeface="Microsoft YaHei"/>
                <a:cs typeface="Microsoft YaHei"/>
              </a:rPr>
              <a:t>更深 AI：一键讲解整条调用链</a:t>
            </a:r>
          </a:p>
          <a:p>
            <a:pPr>
              <a:lnSpc>
                <a:spcPct val="105000"/>
              </a:lnSpc>
              <a:spcAft>
                <a:spcPts val="1400"/>
              </a:spcAft>
            </a:pPr>
            <a:r>
              <a:rPr sz="1450" b="1" i="0">
                <a:solidFill>
                  <a:srgbClr val="32D6C0"/>
                </a:solidFill>
                <a:latin typeface="Microsoft YaHei"/>
                <a:ea typeface="Microsoft YaHei"/>
                <a:cs typeface="Microsoft YaHei"/>
              </a:rPr>
              <a:t>▸  </a:t>
            </a:r>
            <a:r>
              <a:rPr sz="1450" b="0" i="0">
                <a:solidFill>
                  <a:srgbClr val="ECF1F8"/>
                </a:solidFill>
                <a:latin typeface="Microsoft YaHei"/>
                <a:ea typeface="Microsoft YaHei"/>
                <a:cs typeface="Microsoft YaHei"/>
              </a:rPr>
              <a:t>对调用图提问：「谁最终调用了它」</a:t>
            </a:r>
          </a:p>
          <a:p>
            <a:pPr>
              <a:lnSpc>
                <a:spcPct val="105000"/>
              </a:lnSpc>
              <a:spcAft>
                <a:spcPts val="1400"/>
              </a:spcAft>
            </a:pPr>
            <a:r>
              <a:rPr sz="1450" b="1" i="0">
                <a:solidFill>
                  <a:srgbClr val="32D6C0"/>
                </a:solidFill>
                <a:latin typeface="Microsoft YaHei"/>
                <a:ea typeface="Microsoft YaHei"/>
                <a:cs typeface="Microsoft YaHei"/>
              </a:rPr>
              <a:t>▸  </a:t>
            </a:r>
            <a:r>
              <a:rPr sz="1450" b="0" i="0">
                <a:solidFill>
                  <a:srgbClr val="ECF1F8"/>
                </a:solidFill>
                <a:latin typeface="Microsoft YaHei"/>
                <a:ea typeface="Microsoft YaHei"/>
                <a:cs typeface="Microsoft YaHei"/>
              </a:rPr>
              <a:t>接 IDE / Git / PR：跳编辑器、评审挂调用树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09560" y="1691640"/>
            <a:ext cx="3291840" cy="3931920"/>
          </a:xfrm>
          <a:prstGeom prst="roundRect">
            <a:avLst/>
          </a:prstGeom>
          <a:solidFill>
            <a:srgbClr val="172238"/>
          </a:solidFill>
          <a:ln w="12700">
            <a:solidFill>
              <a:srgbClr val="2A3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909560" y="1691640"/>
            <a:ext cx="3291840" cy="640080"/>
          </a:xfrm>
          <a:prstGeom prst="roundRect">
            <a:avLst/>
          </a:prstGeom>
          <a:solidFill>
            <a:srgbClr val="FFB1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909560" y="2011680"/>
            <a:ext cx="3291840" cy="320040"/>
          </a:xfrm>
          <a:prstGeom prst="rect">
            <a:avLst/>
          </a:prstGeom>
          <a:solidFill>
            <a:srgbClr val="FFB1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09560" y="1764792"/>
            <a:ext cx="3291840" cy="548640"/>
          </a:xfrm>
          <a:prstGeom prst="rect">
            <a:avLst/>
          </a:prstGeom>
          <a:noFill/>
        </p:spPr>
        <p:txBody>
          <a:bodyPr wrap="square" anchor="ctr" lIns="76200" rIns="76200" tIns="25400" bIns="25400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0E1627"/>
                </a:solidFill>
                <a:latin typeface="Microsoft YaHei"/>
                <a:ea typeface="Microsoft YaHei"/>
                <a:cs typeface="Microsoft YaHei"/>
              </a:rPr>
              <a:t>远期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83880" y="2560320"/>
            <a:ext cx="2743200" cy="2926080"/>
          </a:xfrm>
          <a:prstGeom prst="rect">
            <a:avLst/>
          </a:prstGeom>
          <a:noFill/>
        </p:spPr>
        <p:txBody>
          <a:bodyPr wrap="square" anchor="t" lIns="76200" rIns="76200" tIns="25400" bIns="25400">
            <a:spAutoFit/>
          </a:bodyPr>
          <a:lstStyle/>
          <a:p>
            <a:pPr>
              <a:lnSpc>
                <a:spcPct val="105000"/>
              </a:lnSpc>
              <a:spcAft>
                <a:spcPts val="1400"/>
              </a:spcAft>
            </a:pPr>
            <a:r>
              <a:rPr sz="1450" b="1" i="0">
                <a:solidFill>
                  <a:srgbClr val="FFB14D"/>
                </a:solidFill>
                <a:latin typeface="Microsoft YaHei"/>
                <a:ea typeface="Microsoft YaHei"/>
                <a:cs typeface="Microsoft YaHei"/>
              </a:rPr>
              <a:t>▸  </a:t>
            </a:r>
            <a:r>
              <a:rPr sz="1450" b="0" i="0">
                <a:solidFill>
                  <a:srgbClr val="ECF1F8"/>
                </a:solidFill>
                <a:latin typeface="Microsoft YaHei"/>
                <a:ea typeface="Microsoft YaHei"/>
                <a:cs typeface="Microsoft YaHei"/>
              </a:rPr>
              <a:t>更多语言：Rust / Go / Verilog 完善</a:t>
            </a:r>
          </a:p>
          <a:p>
            <a:pPr>
              <a:lnSpc>
                <a:spcPct val="105000"/>
              </a:lnSpc>
              <a:spcAft>
                <a:spcPts val="1400"/>
              </a:spcAft>
            </a:pPr>
            <a:r>
              <a:rPr sz="1450" b="1" i="0">
                <a:solidFill>
                  <a:srgbClr val="FFB14D"/>
                </a:solidFill>
                <a:latin typeface="Microsoft YaHei"/>
                <a:ea typeface="Microsoft YaHei"/>
                <a:cs typeface="Microsoft YaHei"/>
              </a:rPr>
              <a:t>▸  </a:t>
            </a:r>
            <a:r>
              <a:rPr sz="1450" b="0" i="0">
                <a:solidFill>
                  <a:srgbClr val="ECF1F8"/>
                </a:solidFill>
                <a:latin typeface="Microsoft YaHei"/>
                <a:ea typeface="Microsoft YaHei"/>
                <a:cs typeface="Microsoft YaHei"/>
              </a:rPr>
              <a:t>团队协作：登录鉴权 / 共享标签</a:t>
            </a:r>
          </a:p>
          <a:p>
            <a:pPr>
              <a:lnSpc>
                <a:spcPct val="105000"/>
              </a:lnSpc>
              <a:spcAft>
                <a:spcPts val="1400"/>
              </a:spcAft>
            </a:pPr>
            <a:r>
              <a:rPr sz="1450" b="1" i="0">
                <a:solidFill>
                  <a:srgbClr val="FFB14D"/>
                </a:solidFill>
                <a:latin typeface="Microsoft YaHei"/>
                <a:ea typeface="Microsoft YaHei"/>
                <a:cs typeface="Microsoft YaHei"/>
              </a:rPr>
              <a:t>▸  </a:t>
            </a:r>
            <a:r>
              <a:rPr sz="1450" b="0" i="0">
                <a:solidFill>
                  <a:srgbClr val="ECF1F8"/>
                </a:solidFill>
                <a:latin typeface="Microsoft YaHei"/>
                <a:ea typeface="Microsoft YaHei"/>
                <a:cs typeface="Microsoft YaHei"/>
              </a:rPr>
              <a:t>性能：超大库增量索引、更快冷启动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355080"/>
            <a:ext cx="10058400" cy="320040"/>
          </a:xfrm>
          <a:prstGeom prst="rect">
            <a:avLst/>
          </a:prstGeom>
          <a:noFill/>
        </p:spPr>
        <p:txBody>
          <a:bodyPr wrap="square" anchor="t" lIns="76200" rIns="76200" tIns="25400" bIns="2540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93A1B5"/>
                </a:solidFill>
                <a:latin typeface="Microsoft YaHei"/>
                <a:ea typeface="Microsoft YaHei"/>
                <a:cs typeface="Microsoft YaHei"/>
              </a:rPr>
              <a:t>SmartCode Browser</a:t>
            </a:r>
            <a:r>
              <a:rPr sz="1000" b="0" i="0">
                <a:solidFill>
                  <a:srgbClr val="93A1B5"/>
                </a:solidFill>
                <a:latin typeface="Microsoft YaHei"/>
                <a:ea typeface="Microsoft YaHei"/>
                <a:cs typeface="Microsoft YaHei"/>
              </a:rPr>
              <a:t>   ·   一个用 Cursor「聊」出来的代码导航工具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41280" y="6355080"/>
            <a:ext cx="1188720" cy="320040"/>
          </a:xfrm>
          <a:prstGeom prst="rect">
            <a:avLst/>
          </a:prstGeom>
          <a:noFill/>
        </p:spPr>
        <p:txBody>
          <a:bodyPr wrap="square" anchor="t" lIns="76200" rIns="76200" tIns="25400" bIns="2540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93A1B5"/>
                </a:solidFill>
                <a:latin typeface="Microsoft YaHei"/>
                <a:ea typeface="Microsoft YaHei"/>
                <a:cs typeface="Microsoft YaHei"/>
              </a:rPr>
              <a:t>14 / 16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E1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66928"/>
            <a:ext cx="91440" cy="502920"/>
          </a:xfrm>
          <a:prstGeom prst="rect">
            <a:avLst/>
          </a:prstGeom>
          <a:solidFill>
            <a:srgbClr val="4D9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457200"/>
            <a:ext cx="10607040" cy="1188720"/>
          </a:xfrm>
          <a:prstGeom prst="rect">
            <a:avLst/>
          </a:prstGeom>
          <a:noFill/>
        </p:spPr>
        <p:txBody>
          <a:bodyPr wrap="square" anchor="t" lIns="76200" rIns="762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 i="0">
                <a:solidFill>
                  <a:srgbClr val="4D9CFF"/>
                </a:solidFill>
                <a:latin typeface="Microsoft YaHei"/>
                <a:ea typeface="Microsoft YaHei"/>
                <a:cs typeface="Microsoft YaHei"/>
              </a:rPr>
              <a:t>总结</a:t>
            </a:r>
          </a:p>
          <a:p>
            <a:pPr algn="l">
              <a:spcAft>
                <a:spcPts val="0"/>
              </a:spcAft>
            </a:pPr>
            <a:r>
              <a:rPr sz="2900" b="1" i="0">
                <a:solidFill>
                  <a:srgbClr val="ECF1F8"/>
                </a:solidFill>
                <a:latin typeface="Microsoft YaHei"/>
                <a:ea typeface="Microsoft YaHei"/>
                <a:cs typeface="Microsoft YaHei"/>
              </a:rPr>
              <a:t>一页带走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1783080"/>
            <a:ext cx="9692640" cy="1097280"/>
          </a:xfrm>
          <a:prstGeom prst="roundRect">
            <a:avLst/>
          </a:prstGeom>
          <a:solidFill>
            <a:srgbClr val="172238"/>
          </a:solidFill>
          <a:ln w="12700">
            <a:solidFill>
              <a:srgbClr val="2A3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68680" y="1783080"/>
            <a:ext cx="109728" cy="1097280"/>
          </a:xfrm>
          <a:prstGeom prst="rect">
            <a:avLst/>
          </a:prstGeom>
          <a:solidFill>
            <a:srgbClr val="4D9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34440" y="1929384"/>
            <a:ext cx="9144000" cy="868680"/>
          </a:xfrm>
          <a:prstGeom prst="rect">
            <a:avLst/>
          </a:prstGeom>
          <a:noFill/>
        </p:spPr>
        <p:txBody>
          <a:bodyPr wrap="square" anchor="ctr" lIns="76200" rIns="762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 i="0">
                <a:solidFill>
                  <a:srgbClr val="4D9CFF"/>
                </a:solidFill>
                <a:latin typeface="Microsoft YaHei"/>
                <a:ea typeface="Microsoft YaHei"/>
                <a:cs typeface="Microsoft YaHei"/>
              </a:rPr>
              <a:t>缝隙 → 工具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ECF1F8"/>
                </a:solidFill>
                <a:latin typeface="Microsoft YaHei"/>
                <a:ea typeface="Microsoft YaHei"/>
                <a:cs typeface="Microsoft YaHei"/>
              </a:rPr>
              <a:t>「沿调用链调查」被现有工具组织得很烂；级联交互把它变成沿调用树散步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3108960"/>
            <a:ext cx="9692640" cy="1097280"/>
          </a:xfrm>
          <a:prstGeom prst="roundRect">
            <a:avLst/>
          </a:prstGeom>
          <a:solidFill>
            <a:srgbClr val="172238"/>
          </a:solidFill>
          <a:ln w="12700">
            <a:solidFill>
              <a:srgbClr val="2A3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68680" y="3108960"/>
            <a:ext cx="109728" cy="1097280"/>
          </a:xfrm>
          <a:prstGeom prst="rect">
            <a:avLst/>
          </a:prstGeom>
          <a:solidFill>
            <a:srgbClr val="FFB1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34440" y="3255264"/>
            <a:ext cx="9144000" cy="868680"/>
          </a:xfrm>
          <a:prstGeom prst="rect">
            <a:avLst/>
          </a:prstGeom>
          <a:noFill/>
        </p:spPr>
        <p:txBody>
          <a:bodyPr wrap="square" anchor="ctr" lIns="76200" rIns="762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 i="0">
                <a:solidFill>
                  <a:srgbClr val="FFB14D"/>
                </a:solidFill>
                <a:latin typeface="Microsoft YaHei"/>
                <a:ea typeface="Microsoft YaHei"/>
                <a:cs typeface="Microsoft YaHei"/>
              </a:rPr>
              <a:t>怎么造的（重点）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ECF1F8"/>
                </a:solidFill>
                <a:latin typeface="Microsoft YaHei"/>
                <a:ea typeface="Microsoft YaHei"/>
                <a:cs typeface="Microsoft YaHei"/>
              </a:rPr>
              <a:t>一个人 + Cursor 聊出来：人提需求 + 把关，AI 写几乎全部实现，小步迭代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4434840"/>
            <a:ext cx="9692640" cy="1097280"/>
          </a:xfrm>
          <a:prstGeom prst="roundRect">
            <a:avLst/>
          </a:prstGeom>
          <a:solidFill>
            <a:srgbClr val="172238"/>
          </a:solidFill>
          <a:ln w="12700">
            <a:solidFill>
              <a:srgbClr val="2A3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68680" y="4434840"/>
            <a:ext cx="109728" cy="1097280"/>
          </a:xfrm>
          <a:prstGeom prst="rect">
            <a:avLst/>
          </a:prstGeom>
          <a:solidFill>
            <a:srgbClr val="32D6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34440" y="4581144"/>
            <a:ext cx="9144000" cy="868680"/>
          </a:xfrm>
          <a:prstGeom prst="rect">
            <a:avLst/>
          </a:prstGeom>
          <a:noFill/>
        </p:spPr>
        <p:txBody>
          <a:bodyPr wrap="square" anchor="ctr" lIns="76200" rIns="762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 i="0">
                <a:solidFill>
                  <a:srgbClr val="32D6C0"/>
                </a:solidFill>
                <a:latin typeface="Microsoft YaHei"/>
                <a:ea typeface="Microsoft YaHei"/>
                <a:cs typeface="Microsoft YaHei"/>
              </a:rPr>
              <a:t>最想分享的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ECF1F8"/>
                </a:solidFill>
                <a:latin typeface="Microsoft YaHei"/>
                <a:ea typeface="Microsoft YaHei"/>
                <a:cs typeface="Microsoft YaHei"/>
              </a:rPr>
              <a:t>门槛降了 —— 你也能这样造内部工具；但方向、边界、把关，仍是人的活儿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355080"/>
            <a:ext cx="10058400" cy="320040"/>
          </a:xfrm>
          <a:prstGeom prst="rect">
            <a:avLst/>
          </a:prstGeom>
          <a:noFill/>
        </p:spPr>
        <p:txBody>
          <a:bodyPr wrap="square" anchor="t" lIns="76200" rIns="76200" tIns="25400" bIns="2540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93A1B5"/>
                </a:solidFill>
                <a:latin typeface="Microsoft YaHei"/>
                <a:ea typeface="Microsoft YaHei"/>
                <a:cs typeface="Microsoft YaHei"/>
              </a:rPr>
              <a:t>SmartCode Browser</a:t>
            </a:r>
            <a:r>
              <a:rPr sz="1000" b="0" i="0">
                <a:solidFill>
                  <a:srgbClr val="93A1B5"/>
                </a:solidFill>
                <a:latin typeface="Microsoft YaHei"/>
                <a:ea typeface="Microsoft YaHei"/>
                <a:cs typeface="Microsoft YaHei"/>
              </a:rPr>
              <a:t>   ·   一个用 Cursor「聊」出来的代码导航工具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41280" y="6355080"/>
            <a:ext cx="1188720" cy="320040"/>
          </a:xfrm>
          <a:prstGeom prst="rect">
            <a:avLst/>
          </a:prstGeom>
          <a:noFill/>
        </p:spPr>
        <p:txBody>
          <a:bodyPr wrap="square" anchor="t" lIns="76200" rIns="76200" tIns="25400" bIns="2540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93A1B5"/>
                </a:solidFill>
                <a:latin typeface="Microsoft YaHei"/>
                <a:ea typeface="Microsoft YaHei"/>
                <a:cs typeface="Microsoft YaHei"/>
              </a:rPr>
              <a:t>15 / 16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E1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64592"/>
          </a:xfrm>
          <a:prstGeom prst="rect">
            <a:avLst/>
          </a:prstGeom>
          <a:solidFill>
            <a:srgbClr val="4D9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64592"/>
            <a:ext cx="12192000" cy="54864"/>
          </a:xfrm>
          <a:prstGeom prst="rect">
            <a:avLst/>
          </a:prstGeom>
          <a:solidFill>
            <a:srgbClr val="32D6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377440"/>
            <a:ext cx="10058400" cy="1828800"/>
          </a:xfrm>
          <a:prstGeom prst="rect">
            <a:avLst/>
          </a:prstGeom>
          <a:noFill/>
        </p:spPr>
        <p:txBody>
          <a:bodyPr wrap="square" anchor="ctr" lIns="76200" rIns="76200" tIns="25400" bIns="25400">
            <a:spAutoFit/>
          </a:bodyPr>
          <a:lstStyle/>
          <a:p>
            <a:pPr algn="l">
              <a:spcAft>
                <a:spcPts val="1200"/>
              </a:spcAft>
            </a:pPr>
            <a:r>
              <a:rPr sz="4400" b="1" i="0">
                <a:solidFill>
                  <a:srgbClr val="ECF1F8"/>
                </a:solidFill>
                <a:latin typeface="Microsoft YaHei"/>
                <a:ea typeface="Microsoft YaHei"/>
                <a:cs typeface="Microsoft YaHei"/>
              </a:rPr>
              <a:t>谢谢 · 欢迎提问</a:t>
            </a:r>
          </a:p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4D9CFF"/>
                </a:solidFill>
                <a:latin typeface="Microsoft YaHei"/>
                <a:ea typeface="Microsoft YaHei"/>
                <a:cs typeface="Microsoft YaHei"/>
              </a:rPr>
              <a:t>现场演示 + Q&amp;A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